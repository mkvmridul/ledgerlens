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Three systems must agree about money: the ledger, the bank's settlement file, and the pipeline that pushed the funds. When they disagree, an analyst spends thirty to sixty minutes per break, by hand. Say the line once,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match or they don't. Chat can explain, but you can't sign off on a number a language model produced. LedgerLens splits the job: ES|QL computes every figure, the model only orders the investigation and explains. Then a workflow acts, behind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one sentence each. Land on hybrid search: precedent retrieval is one ES|QL query, a BM25 branch and a semantic branch fused with RRF. Exact IDs and fuzzy human descriptions in one search API. Elastic embeds at index and query time; there is no embedding code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console at step 1. Keep this slide up only while the page loads. Talk track is in DEMO.md.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tiles. Say where each number came from. Then the two columns.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Each row is one sentence you can say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p:bgPr>
    </p:bg>
    <p:spTree>
      <p:nvGrpSpPr>
        <p:cNvPr id="1" name=""/>
        <p:cNvGrpSpPr/>
        <p:nvPr/>
      </p:nvGrpSpPr>
      <p:grpSpPr>
        <a:xfrm>
          <a:off x="0" y="0"/>
          <a:ext cx="0" cy="0"/>
          <a:chOff x="0" y="0"/>
          <a:chExt cx="0" cy="0"/>
        </a:xfrm>
      </p:grpSpPr>
      <p:sp>
        <p:nvSpPr>
          <p:cNvPr id="2" name="Text 0"/>
          <p:cNvSpPr txBox="1"/>
          <p:nvPr/>
        </p:nvSpPr>
        <p:spPr>
          <a:xfrm>
            <a:off x="548640" y="1005840"/>
            <a:ext cx="4754880" cy="82296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LedgerLens</a:t>
            </a:r>
            <a:endParaRPr lang="en-US" sz="4800" dirty="0"/>
          </a:p>
        </p:txBody>
      </p:sp>
      <p:sp>
        <p:nvSpPr>
          <p:cNvPr id="3" name="Text 1"/>
          <p:cNvSpPr txBox="1"/>
          <p:nvPr/>
        </p:nvSpPr>
        <p:spPr>
          <a:xfrm>
            <a:off x="548640" y="1874520"/>
            <a:ext cx="4480560" cy="822960"/>
          </a:xfrm>
          <a:prstGeom prst="rect">
            <a:avLst/>
          </a:prstGeom>
          <a:noFill/>
          <a:ln/>
        </p:spPr>
        <p:txBody>
          <a:bodyPr wrap="square" lIns="0" tIns="0" rIns="0" bIns="0" rtlCol="0" anchor="t"/>
          <a:lstStyle/>
          <a:p>
            <a:pPr indent="0" marL="0">
              <a:buNone/>
            </a:pPr>
            <a:r>
              <a:rPr lang="en-US" sz="1500" dirty="0">
                <a:solidFill>
                  <a:srgbClr val="CFE0F7"/>
                </a:solidFill>
                <a:latin typeface="Calibri" pitchFamily="34" charset="0"/>
                <a:ea typeface="Calibri" pitchFamily="34" charset="-122"/>
                <a:cs typeface="Calibri" pitchFamily="34" charset="-120"/>
              </a:rPr>
              <a:t>Explainable reconciliation-break investigation for lending and payments operations, built on Elastic Agent Builder.</a:t>
            </a:r>
            <a:endParaRPr lang="en-US" sz="1500" dirty="0"/>
          </a:p>
        </p:txBody>
      </p:sp>
      <p:sp>
        <p:nvSpPr>
          <p:cNvPr id="4" name="Text 2"/>
          <p:cNvSpPr txBox="1"/>
          <p:nvPr/>
        </p:nvSpPr>
        <p:spPr>
          <a:xfrm>
            <a:off x="548640" y="2834640"/>
            <a:ext cx="4480560" cy="1188720"/>
          </a:xfrm>
          <a:prstGeom prst="rect">
            <a:avLst/>
          </a:prstGeom>
          <a:noFill/>
          <a:ln/>
        </p:spPr>
        <p:txBody>
          <a:bodyPr wrap="square" lIns="0" tIns="0" rIns="0" bIns="0" rtlCol="0" anchor="t"/>
          <a:lstStyle/>
          <a:p>
            <a:pPr indent="0" marL="0">
              <a:lnSpc>
                <a:spcPct val="115000"/>
              </a:lnSpc>
              <a:buNone/>
            </a:pPr>
            <a:r>
              <a:rPr lang="en-US" sz="2100" b="1" dirty="0">
                <a:solidFill>
                  <a:srgbClr val="5CCB8A"/>
                </a:solidFill>
                <a:latin typeface="Cambria" pitchFamily="34" charset="0"/>
                <a:ea typeface="Cambria" pitchFamily="34" charset="-122"/>
                <a:cs typeface="Cambria" pitchFamily="34" charset="-120"/>
              </a:rPr>
              <a:t>The model explains.</a:t>
            </a:r>
            <a:endParaRPr lang="en-US" sz="2100" dirty="0"/>
          </a:p>
          <a:p>
            <a:pPr indent="0" marL="0">
              <a:lnSpc>
                <a:spcPct val="115000"/>
              </a:lnSpc>
              <a:buNone/>
            </a:pPr>
            <a:r>
              <a:rPr lang="en-US" sz="2100" b="1" dirty="0">
                <a:solidFill>
                  <a:srgbClr val="5CCB8A"/>
                </a:solidFill>
                <a:latin typeface="Cambria" pitchFamily="34" charset="0"/>
                <a:ea typeface="Cambria" pitchFamily="34" charset="-122"/>
                <a:cs typeface="Cambria" pitchFamily="34" charset="-120"/>
              </a:rPr>
              <a:t>ES|QL decides.</a:t>
            </a:r>
            <a:endParaRPr lang="en-US" sz="2100" dirty="0"/>
          </a:p>
          <a:p>
            <a:pPr indent="0" marL="0">
              <a:lnSpc>
                <a:spcPct val="115000"/>
              </a:lnSpc>
              <a:buNone/>
            </a:pPr>
            <a:r>
              <a:rPr lang="en-US" sz="2100" b="1" dirty="0">
                <a:solidFill>
                  <a:srgbClr val="5CCB8A"/>
                </a:solidFill>
                <a:latin typeface="Cambria" pitchFamily="34" charset="0"/>
                <a:ea typeface="Cambria" pitchFamily="34" charset="-122"/>
                <a:cs typeface="Cambria" pitchFamily="34" charset="-120"/>
              </a:rPr>
              <a:t>Every number is traceable.</a:t>
            </a:r>
            <a:endParaRPr lang="en-US" sz="2100" dirty="0"/>
          </a:p>
        </p:txBody>
      </p:sp>
      <p:sp>
        <p:nvSpPr>
          <p:cNvPr id="5" name="Shape 3"/>
          <p:cNvSpPr/>
          <p:nvPr/>
        </p:nvSpPr>
        <p:spPr>
          <a:xfrm>
            <a:off x="5394960" y="1005840"/>
            <a:ext cx="3291840" cy="3063240"/>
          </a:xfrm>
          <a:prstGeom prst="roundRect">
            <a:avLst>
              <a:gd name="adj" fmla="val 2388"/>
            </a:avLst>
          </a:prstGeom>
          <a:solidFill>
            <a:srgbClr val="FFFFFF"/>
          </a:solidFill>
          <a:ln w="12700">
            <a:solidFill>
              <a:srgbClr val="18294F"/>
            </a:solidFill>
            <a:prstDash val="solid"/>
          </a:ln>
          <a:effectLst>
            <a:outerShdw sx="100000" sy="100000" kx="0" ky="0" algn="bl" rotWithShape="0" blurRad="101600" dist="38100" dir="5400000">
              <a:srgbClr val="000000">
                <a:alpha val="35000"/>
              </a:srgbClr>
            </a:outerShdw>
          </a:effectLst>
        </p:spPr>
      </p:sp>
      <p:sp>
        <p:nvSpPr>
          <p:cNvPr id="6" name="Text 4"/>
          <p:cNvSpPr txBox="1"/>
          <p:nvPr/>
        </p:nvSpPr>
        <p:spPr>
          <a:xfrm>
            <a:off x="5577840" y="1143000"/>
            <a:ext cx="2926080" cy="320040"/>
          </a:xfrm>
          <a:prstGeom prst="rect">
            <a:avLst/>
          </a:prstGeom>
          <a:noFill/>
          <a:ln/>
        </p:spPr>
        <p:txBody>
          <a:bodyPr wrap="square" lIns="0" tIns="0" rIns="0" bIns="0" rtlCol="0" anchor="t"/>
          <a:lstStyle/>
          <a:p>
            <a:pPr indent="0" marL="0">
              <a:buNone/>
            </a:pPr>
            <a:r>
              <a:rPr lang="en-US" sz="1050" b="1" dirty="0">
                <a:solidFill>
                  <a:srgbClr val="0F1E3C"/>
                </a:solidFill>
                <a:latin typeface="Courier New" pitchFamily="34" charset="0"/>
                <a:ea typeface="Courier New" pitchFamily="34" charset="-122"/>
                <a:cs typeface="Courier New" pitchFamily="34" charset="-120"/>
              </a:rPr>
              <a:t>DSB-20260916-00297 · MISSING_CREDIT</a:t>
            </a:r>
            <a:endParaRPr lang="en-US" sz="1050" dirty="0"/>
          </a:p>
        </p:txBody>
      </p:sp>
      <p:sp>
        <p:nvSpPr>
          <p:cNvPr id="7" name="Text 5"/>
          <p:cNvSpPr txBox="1"/>
          <p:nvPr/>
        </p:nvSpPr>
        <p:spPr>
          <a:xfrm>
            <a:off x="5577840" y="1481328"/>
            <a:ext cx="2926080" cy="411480"/>
          </a:xfrm>
          <a:prstGeom prst="rect">
            <a:avLst/>
          </a:prstGeom>
          <a:noFill/>
          <a:ln/>
        </p:spPr>
        <p:txBody>
          <a:bodyPr wrap="square" lIns="0" tIns="0" rIns="0" bIns="0" rtlCol="0" anchor="t"/>
          <a:lstStyle/>
          <a:p>
            <a:pPr indent="0" marL="0">
              <a:buNone/>
            </a:pPr>
            <a:r>
              <a:rPr lang="en-US" sz="1000" dirty="0">
                <a:solidFill>
                  <a:srgbClr val="5B6270"/>
                </a:solidFill>
                <a:latin typeface="Calibri" pitchFamily="34" charset="0"/>
                <a:ea typeface="Calibri" pitchFamily="34" charset="-122"/>
                <a:cs typeface="Calibri" pitchFamily="34" charset="-120"/>
              </a:rPr>
              <a:t>Rule fired  R1: ledger success present, settlement rows = 0</a:t>
            </a:r>
            <a:endParaRPr lang="en-US" sz="1000" dirty="0"/>
          </a:p>
        </p:txBody>
      </p:sp>
      <p:sp>
        <p:nvSpPr>
          <p:cNvPr id="8" name="Text 6"/>
          <p:cNvSpPr txBox="1"/>
          <p:nvPr/>
        </p:nvSpPr>
        <p:spPr>
          <a:xfrm>
            <a:off x="5577840" y="1965960"/>
            <a:ext cx="914400" cy="228600"/>
          </a:xfrm>
          <a:prstGeom prst="rect">
            <a:avLst/>
          </a:prstGeom>
          <a:noFill/>
          <a:ln/>
        </p:spPr>
        <p:txBody>
          <a:bodyPr wrap="square" lIns="0" tIns="0" rIns="0" bIns="0" rtlCol="0" anchor="t"/>
          <a:lstStyle/>
          <a:p>
            <a:pPr indent="0" marL="0">
              <a:buNone/>
            </a:pPr>
            <a:r>
              <a:rPr lang="en-US" sz="1000" dirty="0">
                <a:solidFill>
                  <a:srgbClr val="5B6270"/>
                </a:solidFill>
                <a:latin typeface="Calibri" pitchFamily="34" charset="0"/>
                <a:ea typeface="Calibri" pitchFamily="34" charset="-122"/>
                <a:cs typeface="Calibri" pitchFamily="34" charset="-120"/>
              </a:rPr>
              <a:t>Ledger</a:t>
            </a:r>
            <a:endParaRPr lang="en-US" sz="1000" dirty="0"/>
          </a:p>
        </p:txBody>
      </p:sp>
      <p:sp>
        <p:nvSpPr>
          <p:cNvPr id="9" name="Shape 7"/>
          <p:cNvSpPr/>
          <p:nvPr/>
        </p:nvSpPr>
        <p:spPr>
          <a:xfrm>
            <a:off x="6583680" y="1938528"/>
            <a:ext cx="1280160" cy="274320"/>
          </a:xfrm>
          <a:prstGeom prst="roundRect">
            <a:avLst>
              <a:gd name="adj" fmla="val 20000"/>
            </a:avLst>
          </a:prstGeom>
          <a:solidFill>
            <a:srgbClr val="E3F5EA"/>
          </a:solidFill>
          <a:ln w="9525">
            <a:solidFill>
              <a:srgbClr val="1A7F4B"/>
            </a:solidFill>
            <a:prstDash val="solid"/>
          </a:ln>
        </p:spPr>
      </p:sp>
      <p:sp>
        <p:nvSpPr>
          <p:cNvPr id="10" name="Text 8"/>
          <p:cNvSpPr txBox="1"/>
          <p:nvPr/>
        </p:nvSpPr>
        <p:spPr>
          <a:xfrm>
            <a:off x="6583680" y="1938528"/>
            <a:ext cx="1280160" cy="274320"/>
          </a:xfrm>
          <a:prstGeom prst="rect">
            <a:avLst/>
          </a:prstGeom>
          <a:noFill/>
          <a:ln/>
        </p:spPr>
        <p:txBody>
          <a:bodyPr wrap="square" lIns="0" tIns="0" rIns="0" bIns="0" rtlCol="0" anchor="ctr"/>
          <a:lstStyle/>
          <a:p>
            <a:pPr algn="ctr" indent="0" marL="0">
              <a:buNone/>
            </a:pPr>
            <a:r>
              <a:rPr lang="en-US" sz="1050" b="1" dirty="0">
                <a:solidFill>
                  <a:srgbClr val="1A7F4B"/>
                </a:solidFill>
                <a:latin typeface="Courier New" pitchFamily="34" charset="0"/>
                <a:ea typeface="Courier New" pitchFamily="34" charset="-122"/>
                <a:cs typeface="Courier New" pitchFamily="34" charset="-120"/>
              </a:rPr>
              <a:t>₹51,500.00</a:t>
            </a:r>
            <a:endParaRPr lang="en-US" sz="1050" dirty="0"/>
          </a:p>
        </p:txBody>
      </p:sp>
      <p:sp>
        <p:nvSpPr>
          <p:cNvPr id="11" name="Text 9"/>
          <p:cNvSpPr txBox="1"/>
          <p:nvPr/>
        </p:nvSpPr>
        <p:spPr>
          <a:xfrm>
            <a:off x="5577840" y="2331720"/>
            <a:ext cx="914400" cy="228600"/>
          </a:xfrm>
          <a:prstGeom prst="rect">
            <a:avLst/>
          </a:prstGeom>
          <a:noFill/>
          <a:ln/>
        </p:spPr>
        <p:txBody>
          <a:bodyPr wrap="square" lIns="0" tIns="0" rIns="0" bIns="0" rtlCol="0" anchor="t"/>
          <a:lstStyle/>
          <a:p>
            <a:pPr indent="0" marL="0">
              <a:buNone/>
            </a:pPr>
            <a:r>
              <a:rPr lang="en-US" sz="1000" dirty="0">
                <a:solidFill>
                  <a:srgbClr val="5B6270"/>
                </a:solidFill>
                <a:latin typeface="Calibri" pitchFamily="34" charset="0"/>
                <a:ea typeface="Calibri" pitchFamily="34" charset="-122"/>
                <a:cs typeface="Calibri" pitchFamily="34" charset="-120"/>
              </a:rPr>
              <a:t>Settled</a:t>
            </a:r>
            <a:endParaRPr lang="en-US" sz="1000" dirty="0"/>
          </a:p>
        </p:txBody>
      </p:sp>
      <p:sp>
        <p:nvSpPr>
          <p:cNvPr id="12" name="Shape 10"/>
          <p:cNvSpPr/>
          <p:nvPr/>
        </p:nvSpPr>
        <p:spPr>
          <a:xfrm>
            <a:off x="6583680" y="2304288"/>
            <a:ext cx="1280160" cy="274320"/>
          </a:xfrm>
          <a:prstGeom prst="roundRect">
            <a:avLst>
              <a:gd name="adj" fmla="val 20000"/>
            </a:avLst>
          </a:prstGeom>
          <a:solidFill>
            <a:srgbClr val="E3F5EA"/>
          </a:solidFill>
          <a:ln w="9525">
            <a:solidFill>
              <a:srgbClr val="1A7F4B"/>
            </a:solidFill>
            <a:prstDash val="solid"/>
          </a:ln>
        </p:spPr>
      </p:sp>
      <p:sp>
        <p:nvSpPr>
          <p:cNvPr id="13" name="Text 11"/>
          <p:cNvSpPr txBox="1"/>
          <p:nvPr/>
        </p:nvSpPr>
        <p:spPr>
          <a:xfrm>
            <a:off x="6583680" y="2304288"/>
            <a:ext cx="1280160" cy="274320"/>
          </a:xfrm>
          <a:prstGeom prst="rect">
            <a:avLst/>
          </a:prstGeom>
          <a:noFill/>
          <a:ln/>
        </p:spPr>
        <p:txBody>
          <a:bodyPr wrap="square" lIns="0" tIns="0" rIns="0" bIns="0" rtlCol="0" anchor="ctr"/>
          <a:lstStyle/>
          <a:p>
            <a:pPr algn="ctr" indent="0" marL="0">
              <a:buNone/>
            </a:pPr>
            <a:r>
              <a:rPr lang="en-US" sz="1050" b="1" dirty="0">
                <a:solidFill>
                  <a:srgbClr val="1A7F4B"/>
                </a:solidFill>
                <a:latin typeface="Courier New" pitchFamily="34" charset="0"/>
                <a:ea typeface="Courier New" pitchFamily="34" charset="-122"/>
                <a:cs typeface="Courier New" pitchFamily="34" charset="-120"/>
              </a:rPr>
              <a:t>₹0.00</a:t>
            </a:r>
            <a:endParaRPr lang="en-US" sz="1050" dirty="0"/>
          </a:p>
        </p:txBody>
      </p:sp>
      <p:sp>
        <p:nvSpPr>
          <p:cNvPr id="14" name="Text 12"/>
          <p:cNvSpPr txBox="1"/>
          <p:nvPr/>
        </p:nvSpPr>
        <p:spPr>
          <a:xfrm>
            <a:off x="5577840" y="2697480"/>
            <a:ext cx="914400" cy="228600"/>
          </a:xfrm>
          <a:prstGeom prst="rect">
            <a:avLst/>
          </a:prstGeom>
          <a:noFill/>
          <a:ln/>
        </p:spPr>
        <p:txBody>
          <a:bodyPr wrap="square" lIns="0" tIns="0" rIns="0" bIns="0" rtlCol="0" anchor="t"/>
          <a:lstStyle/>
          <a:p>
            <a:pPr indent="0" marL="0">
              <a:buNone/>
            </a:pPr>
            <a:r>
              <a:rPr lang="en-US" sz="1000" dirty="0">
                <a:solidFill>
                  <a:srgbClr val="5B6270"/>
                </a:solidFill>
                <a:latin typeface="Calibri" pitchFamily="34" charset="0"/>
                <a:ea typeface="Calibri" pitchFamily="34" charset="-122"/>
                <a:cs typeface="Calibri" pitchFamily="34" charset="-120"/>
              </a:rPr>
              <a:t>Delta</a:t>
            </a:r>
            <a:endParaRPr lang="en-US" sz="1000" dirty="0"/>
          </a:p>
        </p:txBody>
      </p:sp>
      <p:sp>
        <p:nvSpPr>
          <p:cNvPr id="15" name="Shape 13"/>
          <p:cNvSpPr/>
          <p:nvPr/>
        </p:nvSpPr>
        <p:spPr>
          <a:xfrm>
            <a:off x="6583680" y="2670048"/>
            <a:ext cx="1280160" cy="274320"/>
          </a:xfrm>
          <a:prstGeom prst="roundRect">
            <a:avLst>
              <a:gd name="adj" fmla="val 20000"/>
            </a:avLst>
          </a:prstGeom>
          <a:solidFill>
            <a:srgbClr val="FBE9E7"/>
          </a:solidFill>
          <a:ln w="9525">
            <a:solidFill>
              <a:srgbClr val="C6432E"/>
            </a:solidFill>
            <a:prstDash val="solid"/>
          </a:ln>
        </p:spPr>
      </p:sp>
      <p:sp>
        <p:nvSpPr>
          <p:cNvPr id="16" name="Text 14"/>
          <p:cNvSpPr txBox="1"/>
          <p:nvPr/>
        </p:nvSpPr>
        <p:spPr>
          <a:xfrm>
            <a:off x="6583680" y="2670048"/>
            <a:ext cx="1280160" cy="274320"/>
          </a:xfrm>
          <a:prstGeom prst="rect">
            <a:avLst/>
          </a:prstGeom>
          <a:noFill/>
          <a:ln/>
        </p:spPr>
        <p:txBody>
          <a:bodyPr wrap="square" lIns="0" tIns="0" rIns="0" bIns="0" rtlCol="0" anchor="ctr"/>
          <a:lstStyle/>
          <a:p>
            <a:pPr algn="ctr" indent="0" marL="0">
              <a:buNone/>
            </a:pPr>
            <a:r>
              <a:rPr lang="en-US" sz="1050" b="1" dirty="0">
                <a:solidFill>
                  <a:srgbClr val="C6432E"/>
                </a:solidFill>
                <a:latin typeface="Courier New" pitchFamily="34" charset="0"/>
                <a:ea typeface="Courier New" pitchFamily="34" charset="-122"/>
                <a:cs typeface="Courier New" pitchFamily="34" charset="-120"/>
              </a:rPr>
              <a:t>₹51,500.00</a:t>
            </a:r>
            <a:endParaRPr lang="en-US" sz="1050" dirty="0"/>
          </a:p>
        </p:txBody>
      </p:sp>
      <p:sp>
        <p:nvSpPr>
          <p:cNvPr id="17" name="Text 15"/>
          <p:cNvSpPr txBox="1"/>
          <p:nvPr/>
        </p:nvSpPr>
        <p:spPr>
          <a:xfrm>
            <a:off x="5577840" y="3063240"/>
            <a:ext cx="1005840" cy="228600"/>
          </a:xfrm>
          <a:prstGeom prst="rect">
            <a:avLst/>
          </a:prstGeom>
          <a:noFill/>
          <a:ln/>
        </p:spPr>
        <p:txBody>
          <a:bodyPr wrap="square" lIns="0" tIns="0" rIns="0" bIns="0" rtlCol="0" anchor="t"/>
          <a:lstStyle/>
          <a:p>
            <a:pPr indent="0" marL="0">
              <a:buNone/>
            </a:pPr>
            <a:r>
              <a:rPr lang="en-US" sz="1000" dirty="0">
                <a:solidFill>
                  <a:srgbClr val="5B6270"/>
                </a:solidFill>
                <a:latin typeface="Calibri" pitchFamily="34" charset="0"/>
                <a:ea typeface="Calibri" pitchFamily="34" charset="-122"/>
                <a:cs typeface="Calibri" pitchFamily="34" charset="-120"/>
              </a:rPr>
              <a:t>Failure point</a:t>
            </a:r>
            <a:endParaRPr lang="en-US" sz="1000" dirty="0"/>
          </a:p>
        </p:txBody>
      </p:sp>
      <p:sp>
        <p:nvSpPr>
          <p:cNvPr id="18" name="Shape 16"/>
          <p:cNvSpPr/>
          <p:nvPr/>
        </p:nvSpPr>
        <p:spPr>
          <a:xfrm>
            <a:off x="6583680" y="3035808"/>
            <a:ext cx="1920240" cy="274320"/>
          </a:xfrm>
          <a:prstGeom prst="roundRect">
            <a:avLst>
              <a:gd name="adj" fmla="val 20000"/>
            </a:avLst>
          </a:prstGeom>
          <a:solidFill>
            <a:srgbClr val="F6F7F9"/>
          </a:solidFill>
          <a:ln w="9525">
            <a:solidFill>
              <a:srgbClr val="5B6270"/>
            </a:solidFill>
            <a:prstDash val="solid"/>
          </a:ln>
        </p:spPr>
      </p:sp>
      <p:sp>
        <p:nvSpPr>
          <p:cNvPr id="19" name="Text 17"/>
          <p:cNvSpPr txBox="1"/>
          <p:nvPr/>
        </p:nvSpPr>
        <p:spPr>
          <a:xfrm>
            <a:off x="6583680" y="3035808"/>
            <a:ext cx="1920240" cy="274320"/>
          </a:xfrm>
          <a:prstGeom prst="rect">
            <a:avLst/>
          </a:prstGeom>
          <a:noFill/>
          <a:ln/>
        </p:spPr>
        <p:txBody>
          <a:bodyPr wrap="square" lIns="0" tIns="0" rIns="0" bIns="0" rtlCol="0" anchor="ctr"/>
          <a:lstStyle/>
          <a:p>
            <a:pPr algn="ctr" indent="0" marL="0">
              <a:buNone/>
            </a:pPr>
            <a:r>
              <a:rPr lang="en-US" sz="1050" b="1" dirty="0">
                <a:solidFill>
                  <a:srgbClr val="14171F"/>
                </a:solidFill>
                <a:latin typeface="Courier New" pitchFamily="34" charset="0"/>
                <a:ea typeface="Courier New" pitchFamily="34" charset="-122"/>
                <a:cs typeface="Courier New" pitchFamily="34" charset="-120"/>
              </a:rPr>
              <a:t>psp.status-poll</a:t>
            </a:r>
            <a:endParaRPr lang="en-US" sz="1050" dirty="0"/>
          </a:p>
        </p:txBody>
      </p:sp>
      <p:sp>
        <p:nvSpPr>
          <p:cNvPr id="20" name="Shape 18"/>
          <p:cNvSpPr/>
          <p:nvPr/>
        </p:nvSpPr>
        <p:spPr>
          <a:xfrm>
            <a:off x="5394960" y="3520440"/>
            <a:ext cx="3291840" cy="548640"/>
          </a:xfrm>
          <a:prstGeom prst="rect">
            <a:avLst/>
          </a:prstGeom>
          <a:solidFill>
            <a:srgbClr val="E3F5EA"/>
          </a:solidFill>
          <a:ln w="12700">
            <a:solidFill>
              <a:srgbClr val="E3F5EA"/>
            </a:solidFill>
            <a:prstDash val="solid"/>
          </a:ln>
        </p:spPr>
      </p:sp>
      <p:sp>
        <p:nvSpPr>
          <p:cNvPr id="21" name="Text 19"/>
          <p:cNvSpPr txBox="1"/>
          <p:nvPr/>
        </p:nvSpPr>
        <p:spPr>
          <a:xfrm>
            <a:off x="5532120" y="3520440"/>
            <a:ext cx="3063240" cy="548640"/>
          </a:xfrm>
          <a:prstGeom prst="rect">
            <a:avLst/>
          </a:prstGeom>
          <a:noFill/>
          <a:ln/>
        </p:spPr>
        <p:txBody>
          <a:bodyPr wrap="square" lIns="0" tIns="0" rIns="0" bIns="0" rtlCol="0" anchor="ctr"/>
          <a:lstStyle/>
          <a:p>
            <a:pPr indent="0" marL="0">
              <a:buNone/>
            </a:pPr>
            <a:r>
              <a:rPr lang="en-US" sz="1050" b="1" dirty="0">
                <a:solidFill>
                  <a:srgbClr val="1A7F4B"/>
                </a:solidFill>
                <a:latin typeface="Calibri" pitchFamily="34" charset="0"/>
                <a:ea typeface="Calibri" pitchFamily="34" charset="-122"/>
                <a:cs typeface="Calibri" pitchFamily="34" charset="-120"/>
              </a:rPr>
              <a:t>12 / 12 figures and IDs traced to a tool result   ·   0 computed by the LLM</a:t>
            </a:r>
            <a:endParaRPr lang="en-US" sz="1050" dirty="0"/>
          </a:p>
        </p:txBody>
      </p:sp>
      <p:sp>
        <p:nvSpPr>
          <p:cNvPr id="22" name="Text 20"/>
          <p:cNvSpPr txBox="1"/>
          <p:nvPr/>
        </p:nvSpPr>
        <p:spPr>
          <a:xfrm>
            <a:off x="457200" y="4754880"/>
            <a:ext cx="8229600" cy="274320"/>
          </a:xfrm>
          <a:prstGeom prst="rect">
            <a:avLst/>
          </a:prstGeom>
          <a:noFill/>
          <a:ln/>
        </p:spPr>
        <p:txBody>
          <a:bodyPr wrap="square" lIns="0" tIns="0" rIns="0" bIns="0" rtlCol="0" anchor="t"/>
          <a:lstStyle/>
          <a:p>
            <a:pPr indent="0" marL="0">
              <a:buNone/>
            </a:pPr>
            <a:r>
              <a:rPr lang="en-US" sz="1000" dirty="0">
                <a:solidFill>
                  <a:srgbClr val="CFE0F7"/>
                </a:solidFill>
                <a:latin typeface="Calibri" pitchFamily="34" charset="0"/>
                <a:ea typeface="Calibri" pitchFamily="34" charset="-122"/>
                <a:cs typeface="Calibri" pitchFamily="34" charset="-120"/>
              </a:rPr>
              <a:t>Forge the Future 2026 · Elastic × AWS · Track 4: Industry Vertical Demo (BFSI) · Mridul Mahajan, Backend Engineer, Lending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2700" b="1" dirty="0">
                <a:solidFill>
                  <a:srgbClr val="0F1E3C"/>
                </a:solidFill>
                <a:latin typeface="Cambria" pitchFamily="34" charset="0"/>
                <a:ea typeface="Cambria" pitchFamily="34" charset="-122"/>
                <a:cs typeface="Cambria" pitchFamily="34" charset="-120"/>
              </a:rPr>
              <a:t>Three systems must agree about every rupee</a:t>
            </a:r>
            <a:endParaRPr lang="en-US" sz="2700" dirty="0"/>
          </a:p>
        </p:txBody>
      </p:sp>
      <p:sp>
        <p:nvSpPr>
          <p:cNvPr id="3" name="Shape 1"/>
          <p:cNvSpPr/>
          <p:nvPr/>
        </p:nvSpPr>
        <p:spPr>
          <a:xfrm>
            <a:off x="457200" y="1188720"/>
            <a:ext cx="2560320" cy="1051560"/>
          </a:xfrm>
          <a:prstGeom prst="roundRect">
            <a:avLst>
              <a:gd name="adj" fmla="val 6957"/>
            </a:avLst>
          </a:prstGeom>
          <a:solidFill>
            <a:srgbClr val="F6F7F9"/>
          </a:solidFill>
          <a:ln w="12700">
            <a:solidFill>
              <a:srgbClr val="E3E6EB"/>
            </a:solidFill>
            <a:prstDash val="solid"/>
          </a:ln>
        </p:spPr>
      </p:sp>
      <p:sp>
        <p:nvSpPr>
          <p:cNvPr id="4" name="Text 2"/>
          <p:cNvSpPr txBox="1"/>
          <p:nvPr/>
        </p:nvSpPr>
        <p:spPr>
          <a:xfrm>
            <a:off x="594360" y="1280160"/>
            <a:ext cx="2286000" cy="274320"/>
          </a:xfrm>
          <a:prstGeom prst="rect">
            <a:avLst/>
          </a:prstGeom>
          <a:noFill/>
          <a:ln/>
        </p:spPr>
        <p:txBody>
          <a:bodyPr wrap="square" lIns="0" tIns="0" rIns="0" bIns="0" rtlCol="0" anchor="t"/>
          <a:lstStyle/>
          <a:p>
            <a:pPr indent="0" marL="0">
              <a:buNone/>
            </a:pPr>
            <a:r>
              <a:rPr lang="en-US" sz="1400" b="1" dirty="0">
                <a:solidFill>
                  <a:srgbClr val="0F1E3C"/>
                </a:solidFill>
                <a:latin typeface="Calibri" pitchFamily="34" charset="0"/>
                <a:ea typeface="Calibri" pitchFamily="34" charset="-122"/>
                <a:cs typeface="Calibri" pitchFamily="34" charset="-120"/>
              </a:rPr>
              <a:t>Event-sourced ledger</a:t>
            </a:r>
            <a:endParaRPr lang="en-US" sz="1400" dirty="0"/>
          </a:p>
        </p:txBody>
      </p:sp>
      <p:sp>
        <p:nvSpPr>
          <p:cNvPr id="5" name="Text 3"/>
          <p:cNvSpPr txBox="1"/>
          <p:nvPr/>
        </p:nvSpPr>
        <p:spPr>
          <a:xfrm>
            <a:off x="594360" y="1572768"/>
            <a:ext cx="2286000" cy="594360"/>
          </a:xfrm>
          <a:prstGeom prst="rect">
            <a:avLst/>
          </a:prstGeom>
          <a:noFill/>
          <a:ln/>
        </p:spPr>
        <p:txBody>
          <a:bodyPr wrap="square" lIns="0" tIns="0" rIns="0" bIns="0" rtlCol="0" anchor="t"/>
          <a:lstStyle/>
          <a:p>
            <a:pPr indent="0" marL="0">
              <a:buNone/>
            </a:pPr>
            <a:r>
              <a:rPr lang="en-US" sz="1100" dirty="0">
                <a:solidFill>
                  <a:srgbClr val="5B6270"/>
                </a:solidFill>
                <a:latin typeface="Calibri" pitchFamily="34" charset="0"/>
                <a:ea typeface="Calibri" pitchFamily="34" charset="-122"/>
                <a:cs typeface="Calibri" pitchFamily="34" charset="-120"/>
              </a:rPr>
              <a:t>DISBURSAL_INITIATED → SUCCEEDED, amount, expected fee, UTR</a:t>
            </a:r>
            <a:endParaRPr lang="en-US" sz="1100" dirty="0"/>
          </a:p>
        </p:txBody>
      </p:sp>
      <p:sp>
        <p:nvSpPr>
          <p:cNvPr id="6" name="Shape 4"/>
          <p:cNvSpPr/>
          <p:nvPr/>
        </p:nvSpPr>
        <p:spPr>
          <a:xfrm>
            <a:off x="3291840" y="1188720"/>
            <a:ext cx="2560320" cy="1051560"/>
          </a:xfrm>
          <a:prstGeom prst="roundRect">
            <a:avLst>
              <a:gd name="adj" fmla="val 6957"/>
            </a:avLst>
          </a:prstGeom>
          <a:solidFill>
            <a:srgbClr val="F6F7F9"/>
          </a:solidFill>
          <a:ln w="12700">
            <a:solidFill>
              <a:srgbClr val="E3E6EB"/>
            </a:solidFill>
            <a:prstDash val="solid"/>
          </a:ln>
        </p:spPr>
      </p:sp>
      <p:sp>
        <p:nvSpPr>
          <p:cNvPr id="7" name="Text 5"/>
          <p:cNvSpPr txBox="1"/>
          <p:nvPr/>
        </p:nvSpPr>
        <p:spPr>
          <a:xfrm>
            <a:off x="3429000" y="1280160"/>
            <a:ext cx="2286000" cy="274320"/>
          </a:xfrm>
          <a:prstGeom prst="rect">
            <a:avLst/>
          </a:prstGeom>
          <a:noFill/>
          <a:ln/>
        </p:spPr>
        <p:txBody>
          <a:bodyPr wrap="square" lIns="0" tIns="0" rIns="0" bIns="0" rtlCol="0" anchor="t"/>
          <a:lstStyle/>
          <a:p>
            <a:pPr indent="0" marL="0">
              <a:buNone/>
            </a:pPr>
            <a:r>
              <a:rPr lang="en-US" sz="1400" b="1" dirty="0">
                <a:solidFill>
                  <a:srgbClr val="0F1E3C"/>
                </a:solidFill>
                <a:latin typeface="Calibri" pitchFamily="34" charset="0"/>
                <a:ea typeface="Calibri" pitchFamily="34" charset="-122"/>
                <a:cs typeface="Calibri" pitchFamily="34" charset="-120"/>
              </a:rPr>
              <a:t>Partner settlement file</a:t>
            </a:r>
            <a:endParaRPr lang="en-US" sz="1400" dirty="0"/>
          </a:p>
        </p:txBody>
      </p:sp>
      <p:sp>
        <p:nvSpPr>
          <p:cNvPr id="8" name="Text 6"/>
          <p:cNvSpPr txBox="1"/>
          <p:nvPr/>
        </p:nvSpPr>
        <p:spPr>
          <a:xfrm>
            <a:off x="3429000" y="1572768"/>
            <a:ext cx="2286000" cy="594360"/>
          </a:xfrm>
          <a:prstGeom prst="rect">
            <a:avLst/>
          </a:prstGeom>
          <a:noFill/>
          <a:ln/>
        </p:spPr>
        <p:txBody>
          <a:bodyPr wrap="square" lIns="0" tIns="0" rIns="0" bIns="0" rtlCol="0" anchor="t"/>
          <a:lstStyle/>
          <a:p>
            <a:pPr indent="0" marL="0">
              <a:buNone/>
            </a:pPr>
            <a:r>
              <a:rPr lang="en-US" sz="1100" dirty="0">
                <a:solidFill>
                  <a:srgbClr val="5B6270"/>
                </a:solidFill>
                <a:latin typeface="Calibri" pitchFamily="34" charset="0"/>
                <a:ea typeface="Calibri" pitchFamily="34" charset="-122"/>
                <a:cs typeface="Calibri" pitchFamily="34" charset="-120"/>
              </a:rPr>
              <a:t>PSP or bank rows: UTR, amount, fee charged, value date</a:t>
            </a:r>
            <a:endParaRPr lang="en-US" sz="1100" dirty="0"/>
          </a:p>
        </p:txBody>
      </p:sp>
      <p:sp>
        <p:nvSpPr>
          <p:cNvPr id="9" name="Shape 7"/>
          <p:cNvSpPr/>
          <p:nvPr/>
        </p:nvSpPr>
        <p:spPr>
          <a:xfrm>
            <a:off x="6126480" y="1188720"/>
            <a:ext cx="2560320" cy="1051560"/>
          </a:xfrm>
          <a:prstGeom prst="roundRect">
            <a:avLst>
              <a:gd name="adj" fmla="val 6957"/>
            </a:avLst>
          </a:prstGeom>
          <a:solidFill>
            <a:srgbClr val="F6F7F9"/>
          </a:solidFill>
          <a:ln w="12700">
            <a:solidFill>
              <a:srgbClr val="E3E6EB"/>
            </a:solidFill>
            <a:prstDash val="solid"/>
          </a:ln>
        </p:spPr>
      </p:sp>
      <p:sp>
        <p:nvSpPr>
          <p:cNvPr id="10" name="Text 8"/>
          <p:cNvSpPr txBox="1"/>
          <p:nvPr/>
        </p:nvSpPr>
        <p:spPr>
          <a:xfrm>
            <a:off x="6263640" y="1280160"/>
            <a:ext cx="2286000" cy="274320"/>
          </a:xfrm>
          <a:prstGeom prst="rect">
            <a:avLst/>
          </a:prstGeom>
          <a:noFill/>
          <a:ln/>
        </p:spPr>
        <p:txBody>
          <a:bodyPr wrap="square" lIns="0" tIns="0" rIns="0" bIns="0" rtlCol="0" anchor="t"/>
          <a:lstStyle/>
          <a:p>
            <a:pPr indent="0" marL="0">
              <a:buNone/>
            </a:pPr>
            <a:r>
              <a:rPr lang="en-US" sz="1400" b="1" dirty="0">
                <a:solidFill>
                  <a:srgbClr val="0F1E3C"/>
                </a:solidFill>
                <a:latin typeface="Calibri" pitchFamily="34" charset="0"/>
                <a:ea typeface="Calibri" pitchFamily="34" charset="-122"/>
                <a:cs typeface="Calibri" pitchFamily="34" charset="-120"/>
              </a:rPr>
              <a:t>Disbursal pipeline traces</a:t>
            </a:r>
            <a:endParaRPr lang="en-US" sz="1400" dirty="0"/>
          </a:p>
        </p:txBody>
      </p:sp>
      <p:sp>
        <p:nvSpPr>
          <p:cNvPr id="11" name="Text 9"/>
          <p:cNvSpPr txBox="1"/>
          <p:nvPr/>
        </p:nvSpPr>
        <p:spPr>
          <a:xfrm>
            <a:off x="6263640" y="1572768"/>
            <a:ext cx="2286000" cy="594360"/>
          </a:xfrm>
          <a:prstGeom prst="rect">
            <a:avLst/>
          </a:prstGeom>
          <a:noFill/>
          <a:ln/>
        </p:spPr>
        <p:txBody>
          <a:bodyPr wrap="square" lIns="0" tIns="0" rIns="0" bIns="0" rtlCol="0" anchor="t"/>
          <a:lstStyle/>
          <a:p>
            <a:pPr indent="0" marL="0">
              <a:buNone/>
            </a:pPr>
            <a:r>
              <a:rPr lang="en-US" sz="1100" dirty="0">
                <a:solidFill>
                  <a:srgbClr val="5B6270"/>
                </a:solidFill>
                <a:latin typeface="Calibri" pitchFamily="34" charset="0"/>
                <a:ea typeface="Calibri" pitchFamily="34" charset="-122"/>
                <a:cs typeface="Calibri" pitchFamily="34" charset="-120"/>
              </a:rPr>
              <a:t>psp.transfer → callback → status poll, with errors and retries</a:t>
            </a:r>
            <a:endParaRPr lang="en-US" sz="1100" dirty="0"/>
          </a:p>
        </p:txBody>
      </p:sp>
      <p:sp>
        <p:nvSpPr>
          <p:cNvPr id="12" name="Shape 10"/>
          <p:cNvSpPr/>
          <p:nvPr/>
        </p:nvSpPr>
        <p:spPr>
          <a:xfrm>
            <a:off x="2788920" y="2377440"/>
            <a:ext cx="822960" cy="274320"/>
          </a:xfrm>
          <a:prstGeom prst="roundRect">
            <a:avLst>
              <a:gd name="adj" fmla="val 20000"/>
            </a:avLst>
          </a:prstGeom>
          <a:solidFill>
            <a:srgbClr val="FBE9E7"/>
          </a:solidFill>
          <a:ln w="9525">
            <a:solidFill>
              <a:srgbClr val="C6432E"/>
            </a:solidFill>
            <a:prstDash val="solid"/>
          </a:ln>
        </p:spPr>
      </p:sp>
      <p:sp>
        <p:nvSpPr>
          <p:cNvPr id="13" name="Text 11"/>
          <p:cNvSpPr txBox="1"/>
          <p:nvPr/>
        </p:nvSpPr>
        <p:spPr>
          <a:xfrm>
            <a:off x="2788920" y="2377440"/>
            <a:ext cx="822960" cy="274320"/>
          </a:xfrm>
          <a:prstGeom prst="rect">
            <a:avLst/>
          </a:prstGeom>
          <a:noFill/>
          <a:ln/>
        </p:spPr>
        <p:txBody>
          <a:bodyPr wrap="square" lIns="0" tIns="0" rIns="0" bIns="0" rtlCol="0" anchor="ctr"/>
          <a:lstStyle/>
          <a:p>
            <a:pPr algn="ctr" indent="0" marL="0">
              <a:buNone/>
            </a:pPr>
            <a:r>
              <a:rPr lang="en-US" sz="1000" b="1" dirty="0">
                <a:solidFill>
                  <a:srgbClr val="C6432E"/>
                </a:solidFill>
                <a:latin typeface="Courier New" pitchFamily="34" charset="0"/>
                <a:ea typeface="Courier New" pitchFamily="34" charset="-122"/>
                <a:cs typeface="Courier New" pitchFamily="34" charset="-120"/>
              </a:rPr>
              <a:t>BREAK</a:t>
            </a:r>
            <a:endParaRPr lang="en-US" sz="1000" dirty="0"/>
          </a:p>
        </p:txBody>
      </p:sp>
      <p:sp>
        <p:nvSpPr>
          <p:cNvPr id="14" name="Shape 12"/>
          <p:cNvSpPr/>
          <p:nvPr/>
        </p:nvSpPr>
        <p:spPr>
          <a:xfrm>
            <a:off x="5623560" y="2377440"/>
            <a:ext cx="822960" cy="274320"/>
          </a:xfrm>
          <a:prstGeom prst="roundRect">
            <a:avLst>
              <a:gd name="adj" fmla="val 20000"/>
            </a:avLst>
          </a:prstGeom>
          <a:solidFill>
            <a:srgbClr val="FBE9E7"/>
          </a:solidFill>
          <a:ln w="9525">
            <a:solidFill>
              <a:srgbClr val="C6432E"/>
            </a:solidFill>
            <a:prstDash val="solid"/>
          </a:ln>
        </p:spPr>
      </p:sp>
      <p:sp>
        <p:nvSpPr>
          <p:cNvPr id="15" name="Text 13"/>
          <p:cNvSpPr txBox="1"/>
          <p:nvPr/>
        </p:nvSpPr>
        <p:spPr>
          <a:xfrm>
            <a:off x="5623560" y="2377440"/>
            <a:ext cx="822960" cy="274320"/>
          </a:xfrm>
          <a:prstGeom prst="rect">
            <a:avLst/>
          </a:prstGeom>
          <a:noFill/>
          <a:ln/>
        </p:spPr>
        <p:txBody>
          <a:bodyPr wrap="square" lIns="0" tIns="0" rIns="0" bIns="0" rtlCol="0" anchor="ctr"/>
          <a:lstStyle/>
          <a:p>
            <a:pPr algn="ctr" indent="0" marL="0">
              <a:buNone/>
            </a:pPr>
            <a:r>
              <a:rPr lang="en-US" sz="1000" b="1" dirty="0">
                <a:solidFill>
                  <a:srgbClr val="C6432E"/>
                </a:solidFill>
                <a:latin typeface="Courier New" pitchFamily="34" charset="0"/>
                <a:ea typeface="Courier New" pitchFamily="34" charset="-122"/>
                <a:cs typeface="Courier New" pitchFamily="34" charset="-120"/>
              </a:rPr>
              <a:t>BREAK</a:t>
            </a:r>
            <a:endParaRPr lang="en-US" sz="1000" dirty="0"/>
          </a:p>
        </p:txBody>
      </p:sp>
      <p:sp>
        <p:nvSpPr>
          <p:cNvPr id="16" name="Text 14"/>
          <p:cNvSpPr txBox="1"/>
          <p:nvPr/>
        </p:nvSpPr>
        <p:spPr>
          <a:xfrm>
            <a:off x="457200" y="2377440"/>
            <a:ext cx="2286000" cy="548640"/>
          </a:xfrm>
          <a:prstGeom prst="rect">
            <a:avLst/>
          </a:prstGeom>
          <a:noFill/>
          <a:ln/>
        </p:spPr>
        <p:txBody>
          <a:bodyPr wrap="square" lIns="0" tIns="0" rIns="0" bIns="0" rtlCol="0" anchor="t"/>
          <a:lstStyle/>
          <a:p>
            <a:pPr indent="0" marL="0">
              <a:buNone/>
            </a:pPr>
            <a:r>
              <a:rPr lang="en-US" sz="1050" i="1" dirty="0">
                <a:solidFill>
                  <a:srgbClr val="5B6270"/>
                </a:solidFill>
                <a:latin typeface="Calibri" pitchFamily="34" charset="0"/>
                <a:ea typeface="Calibri" pitchFamily="34" charset="-122"/>
                <a:cs typeface="Calibri" pitchFamily="34" charset="-120"/>
              </a:rPr>
              <a:t>A disbursal marked success with no credit in the bank file. A double debit. A fee mismatch. A late credit.</a:t>
            </a:r>
            <a:endParaRPr lang="en-US" sz="1050" dirty="0"/>
          </a:p>
        </p:txBody>
      </p:sp>
      <p:sp>
        <p:nvSpPr>
          <p:cNvPr id="17" name="Text 15"/>
          <p:cNvSpPr txBox="1"/>
          <p:nvPr/>
        </p:nvSpPr>
        <p:spPr>
          <a:xfrm>
            <a:off x="457200" y="3017520"/>
            <a:ext cx="3931920" cy="274320"/>
          </a:xfrm>
          <a:prstGeom prst="rect">
            <a:avLst/>
          </a:prstGeom>
          <a:noFill/>
          <a:ln/>
        </p:spPr>
        <p:txBody>
          <a:bodyPr wrap="square" lIns="0" tIns="0" rIns="0" bIns="0" rtlCol="0" anchor="t"/>
          <a:lstStyle/>
          <a:p>
            <a:pPr indent="0" marL="0">
              <a:buNone/>
            </a:pPr>
            <a:r>
              <a:rPr lang="en-US" sz="1500" b="1" dirty="0">
                <a:solidFill>
                  <a:srgbClr val="C6432E"/>
                </a:solidFill>
                <a:latin typeface="Calibri" pitchFamily="34" charset="0"/>
                <a:ea typeface="Calibri" pitchFamily="34" charset="-122"/>
                <a:cs typeface="Calibri" pitchFamily="34" charset="-120"/>
              </a:rPr>
              <a:t>Today</a:t>
            </a:r>
            <a:endParaRPr lang="en-US" sz="1500" dirty="0"/>
          </a:p>
        </p:txBody>
      </p:sp>
      <p:sp>
        <p:nvSpPr>
          <p:cNvPr id="18" name="Text 16"/>
          <p:cNvSpPr txBox="1"/>
          <p:nvPr/>
        </p:nvSpPr>
        <p:spPr>
          <a:xfrm>
            <a:off x="457200" y="3337560"/>
            <a:ext cx="393192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4171F"/>
                </a:solidFill>
                <a:latin typeface="Calibri" pitchFamily="34" charset="0"/>
                <a:ea typeface="Calibri" pitchFamily="34" charset="-122"/>
                <a:cs typeface="Calibri" pitchFamily="34" charset="-120"/>
              </a:rPr>
              <a:t>An analyst pulls entries from three systems by hand and writes the root cause</a:t>
            </a:r>
            <a:endParaRPr lang="en-US" sz="1300" dirty="0"/>
          </a:p>
          <a:p>
            <a:pPr marL="342900" indent="-342900">
              <a:spcAft>
                <a:spcPts val="500"/>
              </a:spcAft>
              <a:buSzPct val="100000"/>
              <a:buChar char="•"/>
            </a:pPr>
            <a:r>
              <a:rPr lang="en-US" sz="1300" dirty="0">
                <a:solidFill>
                  <a:srgbClr val="14171F"/>
                </a:solidFill>
                <a:latin typeface="Calibri" pitchFamily="34" charset="0"/>
                <a:ea typeface="Calibri" pitchFamily="34" charset="-122"/>
                <a:cs typeface="Calibri" pitchFamily="34" charset="-120"/>
              </a:rPr>
              <a:t>30 to 60 minutes per break (practitioner estimate, not a benchmark)</a:t>
            </a:r>
            <a:endParaRPr lang="en-US" sz="1300" dirty="0"/>
          </a:p>
          <a:p>
            <a:pPr marL="342900" indent="-342900">
              <a:spcAft>
                <a:spcPts val="500"/>
              </a:spcAft>
              <a:buSzPct val="100000"/>
              <a:buChar char="•"/>
            </a:pPr>
            <a:r>
              <a:rPr lang="en-US" sz="1300" dirty="0">
                <a:solidFill>
                  <a:srgbClr val="14171F"/>
                </a:solidFill>
                <a:latin typeface="Calibri" pitchFamily="34" charset="0"/>
                <a:ea typeface="Calibri" pitchFamily="34" charset="-122"/>
                <a:cs typeface="Calibri" pitchFamily="34" charset="-120"/>
              </a:rPr>
              <a:t>The queue does not clear on high-volume days</a:t>
            </a:r>
            <a:endParaRPr lang="en-US" sz="1300" dirty="0"/>
          </a:p>
          <a:p>
            <a:pPr marL="342900" indent="-342900">
              <a:spcAft>
                <a:spcPts val="500"/>
              </a:spcAft>
              <a:buSzPct val="100000"/>
              <a:buChar char="•"/>
            </a:pPr>
            <a:r>
              <a:rPr lang="en-US" sz="1300" dirty="0">
                <a:solidFill>
                  <a:srgbClr val="14171F"/>
                </a:solidFill>
                <a:latin typeface="Calibri" pitchFamily="34" charset="0"/>
                <a:ea typeface="Calibri" pitchFamily="34" charset="-122"/>
                <a:cs typeface="Calibri" pitchFamily="34" charset="-120"/>
              </a:rPr>
              <a:t>Settlement cash tied up, refunds delayed, audit exposure</a:t>
            </a:r>
            <a:endParaRPr lang="en-US" sz="1300" dirty="0"/>
          </a:p>
        </p:txBody>
      </p:sp>
      <p:sp>
        <p:nvSpPr>
          <p:cNvPr id="19" name="Text 17"/>
          <p:cNvSpPr txBox="1"/>
          <p:nvPr/>
        </p:nvSpPr>
        <p:spPr>
          <a:xfrm>
            <a:off x="4754880" y="3017520"/>
            <a:ext cx="3931920" cy="274320"/>
          </a:xfrm>
          <a:prstGeom prst="rect">
            <a:avLst/>
          </a:prstGeom>
          <a:noFill/>
          <a:ln/>
        </p:spPr>
        <p:txBody>
          <a:bodyPr wrap="square" lIns="0" tIns="0" rIns="0" bIns="0" rtlCol="0" anchor="t"/>
          <a:lstStyle/>
          <a:p>
            <a:pPr indent="0" marL="0">
              <a:buNone/>
            </a:pPr>
            <a:r>
              <a:rPr lang="en-US" sz="1500" b="1" dirty="0">
                <a:solidFill>
                  <a:srgbClr val="0F1E3C"/>
                </a:solidFill>
                <a:latin typeface="Calibri" pitchFamily="34" charset="0"/>
                <a:ea typeface="Calibri" pitchFamily="34" charset="-122"/>
                <a:cs typeface="Calibri" pitchFamily="34" charset="-120"/>
              </a:rPr>
              <a:t>Why current tools stop short</a:t>
            </a:r>
            <a:endParaRPr lang="en-US" sz="1500" dirty="0"/>
          </a:p>
        </p:txBody>
      </p:sp>
      <p:sp>
        <p:nvSpPr>
          <p:cNvPr id="20" name="Text 18"/>
          <p:cNvSpPr txBox="1"/>
          <p:nvPr/>
        </p:nvSpPr>
        <p:spPr>
          <a:xfrm>
            <a:off x="4754880" y="3337560"/>
            <a:ext cx="393192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4171F"/>
                </a:solidFill>
                <a:latin typeface="Calibri" pitchFamily="34" charset="0"/>
                <a:ea typeface="Calibri" pitchFamily="34" charset="-122"/>
                <a:cs typeface="Calibri" pitchFamily="34" charset="-120"/>
              </a:rPr>
              <a:t>Rules match or they do not. Then a human starts hunting</a:t>
            </a:r>
            <a:endParaRPr lang="en-US" sz="1300" dirty="0"/>
          </a:p>
          <a:p>
            <a:pPr marL="342900" indent="-342900">
              <a:spcAft>
                <a:spcPts val="500"/>
              </a:spcAft>
              <a:buSzPct val="100000"/>
              <a:buChar char="•"/>
            </a:pPr>
            <a:r>
              <a:rPr lang="en-US" sz="1300" dirty="0">
                <a:solidFill>
                  <a:srgbClr val="14171F"/>
                </a:solidFill>
                <a:latin typeface="Calibri" pitchFamily="34" charset="0"/>
                <a:ea typeface="Calibri" pitchFamily="34" charset="-122"/>
                <a:cs typeface="Calibri" pitchFamily="34" charset="-120"/>
              </a:rPr>
              <a:t>Chat and RAG can explain, but nobody can sign off on a number a language model produced</a:t>
            </a:r>
            <a:endParaRPr lang="en-US" sz="1300" dirty="0"/>
          </a:p>
          <a:p>
            <a:pPr marL="342900" indent="-342900">
              <a:spcAft>
                <a:spcPts val="500"/>
              </a:spcAft>
              <a:buSzPct val="100000"/>
              <a:buChar char="•"/>
            </a:pPr>
            <a:r>
              <a:rPr lang="en-US" sz="1300" dirty="0">
                <a:solidFill>
                  <a:srgbClr val="14171F"/>
                </a:solidFill>
                <a:latin typeface="Calibri" pitchFamily="34" charset="0"/>
                <a:ea typeface="Calibri" pitchFamily="34" charset="-122"/>
                <a:cs typeface="Calibri" pitchFamily="34" charset="-120"/>
              </a:rPr>
              <a:t>What is needed: computed figures, narrated reasoning, and an action behind a human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3657600" cy="640080"/>
          </a:xfrm>
          <a:prstGeom prst="rect">
            <a:avLst/>
          </a:prstGeom>
          <a:noFill/>
          <a:ln/>
        </p:spPr>
        <p:txBody>
          <a:bodyPr wrap="square" lIns="0" tIns="0" rIns="0" bIns="0" rtlCol="0" anchor="t"/>
          <a:lstStyle/>
          <a:p>
            <a:pPr indent="0" marL="0">
              <a:buNone/>
            </a:pPr>
            <a:r>
              <a:rPr lang="en-US" sz="3200" b="1" dirty="0">
                <a:solidFill>
                  <a:srgbClr val="0F1E3C"/>
                </a:solidFill>
                <a:latin typeface="Cambria" pitchFamily="34" charset="0"/>
                <a:ea typeface="Cambria" pitchFamily="34" charset="-122"/>
                <a:cs typeface="Cambria" pitchFamily="34" charset="-120"/>
              </a:rPr>
              <a:t>How it works</a:t>
            </a:r>
            <a:endParaRPr lang="en-US" sz="3200" dirty="0"/>
          </a:p>
        </p:txBody>
      </p:sp>
      <p:sp>
        <p:nvSpPr>
          <p:cNvPr id="3" name="Text 1"/>
          <p:cNvSpPr txBox="1"/>
          <p:nvPr/>
        </p:nvSpPr>
        <p:spPr>
          <a:xfrm>
            <a:off x="3931920" y="502920"/>
            <a:ext cx="4754880" cy="457200"/>
          </a:xfrm>
          <a:prstGeom prst="rect">
            <a:avLst/>
          </a:prstGeom>
          <a:noFill/>
          <a:ln/>
        </p:spPr>
        <p:txBody>
          <a:bodyPr wrap="square" lIns="0" tIns="0" rIns="0" bIns="0" rtlCol="0" anchor="t"/>
          <a:lstStyle/>
          <a:p>
            <a:pPr algn="r" indent="0" marL="0">
              <a:buNone/>
            </a:pPr>
            <a:r>
              <a:rPr lang="en-US" sz="1050" dirty="0">
                <a:solidFill>
                  <a:srgbClr val="5B6270"/>
                </a:solidFill>
                <a:latin typeface="Calibri" pitchFamily="34" charset="0"/>
                <a:ea typeface="Calibri" pitchFamily="34" charset="-122"/>
                <a:cs typeface="Calibri" pitchFamily="34" charset="-120"/>
              </a:rPr>
              <a:t>Elastic Cloud Serverless on AWS · Elastic Managed LLM or Amazon Bedrock via an inference endpoint · Kibana Cases</a:t>
            </a:r>
            <a:endParaRPr lang="en-US" sz="1050" dirty="0"/>
          </a:p>
        </p:txBody>
      </p:sp>
      <p:sp>
        <p:nvSpPr>
          <p:cNvPr id="4" name="Shape 2"/>
          <p:cNvSpPr/>
          <p:nvPr/>
        </p:nvSpPr>
        <p:spPr>
          <a:xfrm>
            <a:off x="457200" y="1234440"/>
            <a:ext cx="1572768" cy="2148840"/>
          </a:xfrm>
          <a:prstGeom prst="roundRect">
            <a:avLst>
              <a:gd name="adj" fmla="val 4651"/>
            </a:avLst>
          </a:prstGeom>
          <a:solidFill>
            <a:srgbClr val="F6F7F9"/>
          </a:solidFill>
          <a:ln w="12700">
            <a:solidFill>
              <a:srgbClr val="E3E6EB"/>
            </a:solidFill>
            <a:prstDash val="solid"/>
          </a:ln>
        </p:spPr>
      </p:sp>
      <p:sp>
        <p:nvSpPr>
          <p:cNvPr id="5" name="Text 3"/>
          <p:cNvSpPr txBox="1"/>
          <p:nvPr/>
        </p:nvSpPr>
        <p:spPr>
          <a:xfrm>
            <a:off x="566928" y="1344168"/>
            <a:ext cx="1353312" cy="320040"/>
          </a:xfrm>
          <a:prstGeom prst="rect">
            <a:avLst/>
          </a:prstGeom>
          <a:noFill/>
          <a:ln/>
        </p:spPr>
        <p:txBody>
          <a:bodyPr wrap="square" lIns="0" tIns="0" rIns="0" bIns="0" rtlCol="0" anchor="t"/>
          <a:lstStyle/>
          <a:p>
            <a:pPr indent="0" marL="0">
              <a:buNone/>
            </a:pPr>
            <a:r>
              <a:rPr lang="en-US" sz="1350" b="1" dirty="0">
                <a:solidFill>
                  <a:srgbClr val="0F1E3C"/>
                </a:solidFill>
                <a:latin typeface="Calibri" pitchFamily="34" charset="0"/>
                <a:ea typeface="Calibri" pitchFamily="34" charset="-122"/>
                <a:cs typeface="Calibri" pitchFamily="34" charset="-120"/>
              </a:rPr>
              <a:t>Data</a:t>
            </a:r>
            <a:endParaRPr lang="en-US" sz="1350" dirty="0"/>
          </a:p>
        </p:txBody>
      </p:sp>
      <p:sp>
        <p:nvSpPr>
          <p:cNvPr id="6" name="Text 4"/>
          <p:cNvSpPr txBox="1"/>
          <p:nvPr/>
        </p:nvSpPr>
        <p:spPr>
          <a:xfrm>
            <a:off x="566928" y="1691640"/>
            <a:ext cx="1353312" cy="1600200"/>
          </a:xfrm>
          <a:prstGeom prst="rect">
            <a:avLst/>
          </a:prstGeom>
          <a:noFill/>
          <a:ln/>
        </p:spPr>
        <p:txBody>
          <a:bodyPr wrap="square" lIns="0" tIns="0" rIns="0" bIns="0" rtlCol="0" anchor="t"/>
          <a:lstStyle/>
          <a:p>
            <a:pPr indent="0" marL="0">
              <a:buNone/>
            </a:pPr>
            <a:r>
              <a:rPr lang="en-US" sz="1000" dirty="0">
                <a:solidFill>
                  <a:srgbClr val="14171F"/>
                </a:solidFill>
                <a:latin typeface="Calibri" pitchFamily="34" charset="0"/>
                <a:ea typeface="Calibri" pitchFamily="34" charset="-122"/>
                <a:cs typeface="Calibri" pitchFamily="34" charset="-120"/>
              </a:rPr>
              <a:t>Synthetic ledger, settlement rows and APM-shaped spans → 3 indices with strict mappings. Past cases in a semantic_text field.</a:t>
            </a:r>
            <a:endParaRPr lang="en-US" sz="1000" dirty="0"/>
          </a:p>
        </p:txBody>
      </p:sp>
      <p:sp>
        <p:nvSpPr>
          <p:cNvPr id="7" name="Shape 5"/>
          <p:cNvSpPr/>
          <p:nvPr/>
        </p:nvSpPr>
        <p:spPr>
          <a:xfrm>
            <a:off x="2011680" y="2308860"/>
            <a:ext cx="128016" cy="0"/>
          </a:xfrm>
          <a:prstGeom prst="line">
            <a:avLst/>
          </a:prstGeom>
          <a:noFill/>
          <a:ln w="25400">
            <a:solidFill>
              <a:srgbClr val="1A7F4B"/>
            </a:solidFill>
            <a:prstDash val="solid"/>
            <a:tailEnd type="triangle"/>
          </a:ln>
        </p:spPr>
      </p:sp>
      <p:sp>
        <p:nvSpPr>
          <p:cNvPr id="8" name="Shape 6"/>
          <p:cNvSpPr/>
          <p:nvPr/>
        </p:nvSpPr>
        <p:spPr>
          <a:xfrm>
            <a:off x="2121408" y="1234440"/>
            <a:ext cx="1572768" cy="2148840"/>
          </a:xfrm>
          <a:prstGeom prst="roundRect">
            <a:avLst>
              <a:gd name="adj" fmla="val 4651"/>
            </a:avLst>
          </a:prstGeom>
          <a:solidFill>
            <a:srgbClr val="E3F5EA"/>
          </a:solidFill>
          <a:ln w="12700">
            <a:solidFill>
              <a:srgbClr val="1A7F4B"/>
            </a:solidFill>
            <a:prstDash val="solid"/>
          </a:ln>
        </p:spPr>
      </p:sp>
      <p:sp>
        <p:nvSpPr>
          <p:cNvPr id="9" name="Text 7"/>
          <p:cNvSpPr txBox="1"/>
          <p:nvPr/>
        </p:nvSpPr>
        <p:spPr>
          <a:xfrm>
            <a:off x="2231136" y="1344168"/>
            <a:ext cx="1353312" cy="320040"/>
          </a:xfrm>
          <a:prstGeom prst="rect">
            <a:avLst/>
          </a:prstGeom>
          <a:noFill/>
          <a:ln/>
        </p:spPr>
        <p:txBody>
          <a:bodyPr wrap="square" lIns="0" tIns="0" rIns="0" bIns="0" rtlCol="0" anchor="t"/>
          <a:lstStyle/>
          <a:p>
            <a:pPr indent="0" marL="0">
              <a:buNone/>
            </a:pPr>
            <a:r>
              <a:rPr lang="en-US" sz="1350" b="1" dirty="0">
                <a:solidFill>
                  <a:srgbClr val="0F1E3C"/>
                </a:solidFill>
                <a:latin typeface="Calibri" pitchFamily="34" charset="0"/>
                <a:ea typeface="Calibri" pitchFamily="34" charset="-122"/>
                <a:cs typeface="Calibri" pitchFamily="34" charset="-120"/>
              </a:rPr>
              <a:t>ES|QL tools</a:t>
            </a:r>
            <a:endParaRPr lang="en-US" sz="1350" dirty="0"/>
          </a:p>
        </p:txBody>
      </p:sp>
      <p:sp>
        <p:nvSpPr>
          <p:cNvPr id="10" name="Text 8"/>
          <p:cNvSpPr txBox="1"/>
          <p:nvPr/>
        </p:nvSpPr>
        <p:spPr>
          <a:xfrm>
            <a:off x="2231136" y="1691640"/>
            <a:ext cx="1353312" cy="1600200"/>
          </a:xfrm>
          <a:prstGeom prst="rect">
            <a:avLst/>
          </a:prstGeom>
          <a:noFill/>
          <a:ln/>
        </p:spPr>
        <p:txBody>
          <a:bodyPr wrap="square" lIns="0" tIns="0" rIns="0" bIns="0" rtlCol="0" anchor="t"/>
          <a:lstStyle/>
          <a:p>
            <a:pPr indent="0" marL="0">
              <a:buNone/>
            </a:pPr>
            <a:r>
              <a:rPr lang="en-US" sz="1000" dirty="0">
                <a:solidFill>
                  <a:srgbClr val="14171F"/>
                </a:solidFill>
                <a:latin typeface="Calibri" pitchFamily="34" charset="0"/>
                <a:ea typeface="Calibri" pitchFamily="34" charset="-122"/>
                <a:cs typeface="Calibri" pitchFamily="34" charset="-120"/>
              </a:rPr>
              <a:t>match (STATS BY disbursal_id, no join) · delta + rule classify · evidence rows · trace failure point · hybrid precedent (FORK + FUSE)</a:t>
            </a:r>
            <a:endParaRPr lang="en-US" sz="1000" dirty="0"/>
          </a:p>
        </p:txBody>
      </p:sp>
      <p:sp>
        <p:nvSpPr>
          <p:cNvPr id="11" name="Shape 9"/>
          <p:cNvSpPr/>
          <p:nvPr/>
        </p:nvSpPr>
        <p:spPr>
          <a:xfrm>
            <a:off x="3675888" y="2308860"/>
            <a:ext cx="128016" cy="0"/>
          </a:xfrm>
          <a:prstGeom prst="line">
            <a:avLst/>
          </a:prstGeom>
          <a:noFill/>
          <a:ln w="25400">
            <a:solidFill>
              <a:srgbClr val="1A7F4B"/>
            </a:solidFill>
            <a:prstDash val="solid"/>
            <a:tailEnd type="triangle"/>
          </a:ln>
        </p:spPr>
      </p:sp>
      <p:sp>
        <p:nvSpPr>
          <p:cNvPr id="12" name="Shape 10"/>
          <p:cNvSpPr/>
          <p:nvPr/>
        </p:nvSpPr>
        <p:spPr>
          <a:xfrm>
            <a:off x="3785616" y="1234440"/>
            <a:ext cx="1572768" cy="2148840"/>
          </a:xfrm>
          <a:prstGeom prst="roundRect">
            <a:avLst>
              <a:gd name="adj" fmla="val 4651"/>
            </a:avLst>
          </a:prstGeom>
          <a:solidFill>
            <a:srgbClr val="F6F7F9"/>
          </a:solidFill>
          <a:ln w="12700">
            <a:solidFill>
              <a:srgbClr val="E3E6EB"/>
            </a:solidFill>
            <a:prstDash val="solid"/>
          </a:ln>
        </p:spPr>
      </p:sp>
      <p:sp>
        <p:nvSpPr>
          <p:cNvPr id="13" name="Text 11"/>
          <p:cNvSpPr txBox="1"/>
          <p:nvPr/>
        </p:nvSpPr>
        <p:spPr>
          <a:xfrm>
            <a:off x="3895344" y="1344168"/>
            <a:ext cx="1353312" cy="320040"/>
          </a:xfrm>
          <a:prstGeom prst="rect">
            <a:avLst/>
          </a:prstGeom>
          <a:noFill/>
          <a:ln/>
        </p:spPr>
        <p:txBody>
          <a:bodyPr wrap="square" lIns="0" tIns="0" rIns="0" bIns="0" rtlCol="0" anchor="t"/>
          <a:lstStyle/>
          <a:p>
            <a:pPr indent="0" marL="0">
              <a:buNone/>
            </a:pPr>
            <a:r>
              <a:rPr lang="en-US" sz="1350" b="1" dirty="0">
                <a:solidFill>
                  <a:srgbClr val="0F1E3C"/>
                </a:solidFill>
                <a:latin typeface="Calibri" pitchFamily="34" charset="0"/>
                <a:ea typeface="Calibri" pitchFamily="34" charset="-122"/>
                <a:cs typeface="Calibri" pitchFamily="34" charset="-120"/>
              </a:rPr>
              <a:t>Agent Builder</a:t>
            </a:r>
            <a:endParaRPr lang="en-US" sz="1350" dirty="0"/>
          </a:p>
        </p:txBody>
      </p:sp>
      <p:sp>
        <p:nvSpPr>
          <p:cNvPr id="14" name="Text 12"/>
          <p:cNvSpPr txBox="1"/>
          <p:nvPr/>
        </p:nvSpPr>
        <p:spPr>
          <a:xfrm>
            <a:off x="3895344" y="1691640"/>
            <a:ext cx="1353312" cy="1600200"/>
          </a:xfrm>
          <a:prstGeom prst="rect">
            <a:avLst/>
          </a:prstGeom>
          <a:noFill/>
          <a:ln/>
        </p:spPr>
        <p:txBody>
          <a:bodyPr wrap="square" lIns="0" tIns="0" rIns="0" bIns="0" rtlCol="0" anchor="t"/>
          <a:lstStyle/>
          <a:p>
            <a:pPr indent="0" marL="0">
              <a:buNone/>
            </a:pPr>
            <a:r>
              <a:rPr lang="en-US" sz="1000" dirty="0">
                <a:solidFill>
                  <a:srgbClr val="14171F"/>
                </a:solidFill>
                <a:latin typeface="Calibri" pitchFamily="34" charset="0"/>
                <a:ea typeface="Calibri" pitchFamily="34" charset="-122"/>
                <a:cs typeface="Calibri" pitchFamily="34" charset="-120"/>
              </a:rPr>
              <a:t>Orders the tools, reads results, writes the report. Never computes. Every run has a trace waterfall.</a:t>
            </a:r>
            <a:endParaRPr lang="en-US" sz="1000" dirty="0"/>
          </a:p>
        </p:txBody>
      </p:sp>
      <p:sp>
        <p:nvSpPr>
          <p:cNvPr id="15" name="Shape 13"/>
          <p:cNvSpPr/>
          <p:nvPr/>
        </p:nvSpPr>
        <p:spPr>
          <a:xfrm>
            <a:off x="5340096" y="2308860"/>
            <a:ext cx="128016" cy="0"/>
          </a:xfrm>
          <a:prstGeom prst="line">
            <a:avLst/>
          </a:prstGeom>
          <a:noFill/>
          <a:ln w="25400">
            <a:solidFill>
              <a:srgbClr val="1A7F4B"/>
            </a:solidFill>
            <a:prstDash val="solid"/>
            <a:tailEnd type="triangle"/>
          </a:ln>
        </p:spPr>
      </p:sp>
      <p:sp>
        <p:nvSpPr>
          <p:cNvPr id="16" name="Shape 14"/>
          <p:cNvSpPr/>
          <p:nvPr/>
        </p:nvSpPr>
        <p:spPr>
          <a:xfrm>
            <a:off x="5449824" y="1234440"/>
            <a:ext cx="1572768" cy="2148840"/>
          </a:xfrm>
          <a:prstGeom prst="roundRect">
            <a:avLst>
              <a:gd name="adj" fmla="val 4651"/>
            </a:avLst>
          </a:prstGeom>
          <a:solidFill>
            <a:srgbClr val="FFF3D6"/>
          </a:solidFill>
          <a:ln w="12700">
            <a:solidFill>
              <a:srgbClr val="8A5A00"/>
            </a:solidFill>
            <a:prstDash val="solid"/>
          </a:ln>
        </p:spPr>
      </p:sp>
      <p:sp>
        <p:nvSpPr>
          <p:cNvPr id="17" name="Text 15"/>
          <p:cNvSpPr txBox="1"/>
          <p:nvPr/>
        </p:nvSpPr>
        <p:spPr>
          <a:xfrm>
            <a:off x="5559552" y="1344168"/>
            <a:ext cx="1353312" cy="320040"/>
          </a:xfrm>
          <a:prstGeom prst="rect">
            <a:avLst/>
          </a:prstGeom>
          <a:noFill/>
          <a:ln/>
        </p:spPr>
        <p:txBody>
          <a:bodyPr wrap="square" lIns="0" tIns="0" rIns="0" bIns="0" rtlCol="0" anchor="t"/>
          <a:lstStyle/>
          <a:p>
            <a:pPr indent="0" marL="0">
              <a:buNone/>
            </a:pPr>
            <a:r>
              <a:rPr lang="en-US" sz="1350" b="1" dirty="0">
                <a:solidFill>
                  <a:srgbClr val="0F1E3C"/>
                </a:solidFill>
                <a:latin typeface="Calibri" pitchFamily="34" charset="0"/>
                <a:ea typeface="Calibri" pitchFamily="34" charset="-122"/>
                <a:cs typeface="Calibri" pitchFamily="34" charset="-120"/>
              </a:rPr>
              <a:t>Elastic Workflow</a:t>
            </a:r>
            <a:endParaRPr lang="en-US" sz="1350" dirty="0"/>
          </a:p>
        </p:txBody>
      </p:sp>
      <p:sp>
        <p:nvSpPr>
          <p:cNvPr id="18" name="Text 16"/>
          <p:cNvSpPr txBox="1"/>
          <p:nvPr/>
        </p:nvSpPr>
        <p:spPr>
          <a:xfrm>
            <a:off x="5559552" y="1691640"/>
            <a:ext cx="1353312" cy="1600200"/>
          </a:xfrm>
          <a:prstGeom prst="rect">
            <a:avLst/>
          </a:prstGeom>
          <a:noFill/>
          <a:ln/>
        </p:spPr>
        <p:txBody>
          <a:bodyPr wrap="square" lIns="0" tIns="0" rIns="0" bIns="0" rtlCol="0" anchor="t"/>
          <a:lstStyle/>
          <a:p>
            <a:pPr indent="0" marL="0">
              <a:buNone/>
            </a:pPr>
            <a:r>
              <a:rPr lang="en-US" sz="1000" dirty="0">
                <a:solidFill>
                  <a:srgbClr val="14171F"/>
                </a:solidFill>
                <a:latin typeface="Calibri" pitchFamily="34" charset="0"/>
                <a:ea typeface="Calibri" pitchFamily="34" charset="-122"/>
                <a:cs typeface="Calibri" pitchFamily="34" charset="-120"/>
              </a:rPr>
              <a:t>Opens a case and writes an audit record. Runs only after a human types approve.</a:t>
            </a:r>
            <a:endParaRPr lang="en-US" sz="1000" dirty="0"/>
          </a:p>
        </p:txBody>
      </p:sp>
      <p:sp>
        <p:nvSpPr>
          <p:cNvPr id="19" name="Shape 17"/>
          <p:cNvSpPr/>
          <p:nvPr/>
        </p:nvSpPr>
        <p:spPr>
          <a:xfrm>
            <a:off x="7004304" y="2308860"/>
            <a:ext cx="128016" cy="0"/>
          </a:xfrm>
          <a:prstGeom prst="line">
            <a:avLst/>
          </a:prstGeom>
          <a:noFill/>
          <a:ln w="25400">
            <a:solidFill>
              <a:srgbClr val="1A7F4B"/>
            </a:solidFill>
            <a:prstDash val="solid"/>
            <a:tailEnd type="triangle"/>
          </a:ln>
        </p:spPr>
      </p:sp>
      <p:sp>
        <p:nvSpPr>
          <p:cNvPr id="20" name="Shape 18"/>
          <p:cNvSpPr/>
          <p:nvPr/>
        </p:nvSpPr>
        <p:spPr>
          <a:xfrm>
            <a:off x="7114032" y="1234440"/>
            <a:ext cx="1572768" cy="2148840"/>
          </a:xfrm>
          <a:prstGeom prst="roundRect">
            <a:avLst>
              <a:gd name="adj" fmla="val 4651"/>
            </a:avLst>
          </a:prstGeom>
          <a:solidFill>
            <a:srgbClr val="F6F7F9"/>
          </a:solidFill>
          <a:ln w="12700">
            <a:solidFill>
              <a:srgbClr val="E3E6EB"/>
            </a:solidFill>
            <a:prstDash val="solid"/>
          </a:ln>
        </p:spPr>
      </p:sp>
      <p:sp>
        <p:nvSpPr>
          <p:cNvPr id="21" name="Text 19"/>
          <p:cNvSpPr txBox="1"/>
          <p:nvPr/>
        </p:nvSpPr>
        <p:spPr>
          <a:xfrm>
            <a:off x="7223760" y="1344168"/>
            <a:ext cx="1353312" cy="320040"/>
          </a:xfrm>
          <a:prstGeom prst="rect">
            <a:avLst/>
          </a:prstGeom>
          <a:noFill/>
          <a:ln/>
        </p:spPr>
        <p:txBody>
          <a:bodyPr wrap="square" lIns="0" tIns="0" rIns="0" bIns="0" rtlCol="0" anchor="t"/>
          <a:lstStyle/>
          <a:p>
            <a:pPr indent="0" marL="0">
              <a:buNone/>
            </a:pPr>
            <a:r>
              <a:rPr lang="en-US" sz="1350" b="1" dirty="0">
                <a:solidFill>
                  <a:srgbClr val="0F1E3C"/>
                </a:solidFill>
                <a:latin typeface="Calibri" pitchFamily="34" charset="0"/>
                <a:ea typeface="Calibri" pitchFamily="34" charset="-122"/>
                <a:cs typeface="Calibri" pitchFamily="34" charset="-120"/>
              </a:rPr>
              <a:t>Ops console</a:t>
            </a:r>
            <a:endParaRPr lang="en-US" sz="1350" dirty="0"/>
          </a:p>
        </p:txBody>
      </p:sp>
      <p:sp>
        <p:nvSpPr>
          <p:cNvPr id="22" name="Text 20"/>
          <p:cNvSpPr txBox="1"/>
          <p:nvPr/>
        </p:nvSpPr>
        <p:spPr>
          <a:xfrm>
            <a:off x="7223760" y="1691640"/>
            <a:ext cx="1353312" cy="1600200"/>
          </a:xfrm>
          <a:prstGeom prst="rect">
            <a:avLst/>
          </a:prstGeom>
          <a:noFill/>
          <a:ln/>
        </p:spPr>
        <p:txBody>
          <a:bodyPr wrap="square" lIns="0" tIns="0" rIns="0" bIns="0" rtlCol="0" anchor="t"/>
          <a:lstStyle/>
          <a:p>
            <a:pPr indent="0" marL="0">
              <a:buNone/>
            </a:pPr>
            <a:r>
              <a:rPr lang="en-US" sz="1000" dirty="0">
                <a:solidFill>
                  <a:srgbClr val="14171F"/>
                </a:solidFill>
                <a:latin typeface="Calibri" pitchFamily="34" charset="0"/>
                <a:ea typeface="Calibri" pitchFamily="34" charset="-122"/>
                <a:cs typeface="Calibri" pitchFamily="34" charset="-120"/>
              </a:rPr>
              <a:t>Break queue, report with every figure highlighted to its tool result, approve/dismiss, Sarvam Hindi and Kannada.</a:t>
            </a:r>
            <a:endParaRPr lang="en-US" sz="1000" dirty="0"/>
          </a:p>
        </p:txBody>
      </p:sp>
      <p:sp>
        <p:nvSpPr>
          <p:cNvPr id="23" name="Shape 21"/>
          <p:cNvSpPr/>
          <p:nvPr/>
        </p:nvSpPr>
        <p:spPr>
          <a:xfrm>
            <a:off x="457200" y="3611880"/>
            <a:ext cx="8229600" cy="685800"/>
          </a:xfrm>
          <a:prstGeom prst="rect">
            <a:avLst/>
          </a:prstGeom>
          <a:solidFill>
            <a:srgbClr val="0F1E3C"/>
          </a:solidFill>
          <a:ln w="12700">
            <a:solidFill>
              <a:srgbClr val="0F1E3C"/>
            </a:solidFill>
            <a:prstDash val="solid"/>
          </a:ln>
        </p:spPr>
      </p:sp>
      <p:sp>
        <p:nvSpPr>
          <p:cNvPr id="24" name="Text 22"/>
          <p:cNvSpPr txBox="1"/>
          <p:nvPr/>
        </p:nvSpPr>
        <p:spPr>
          <a:xfrm>
            <a:off x="640080" y="3611880"/>
            <a:ext cx="7863840" cy="6858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Every figure the agent reports originates in an ES|QL result and is passed through verbatim. The LLM receives rows and emits prose. The console checks this live: each amount and ID in the report is matched back to the tool result it came from.</a:t>
            </a:r>
            <a:endParaRPr lang="en-US" sz="1150" dirty="0"/>
          </a:p>
        </p:txBody>
      </p:sp>
      <p:sp>
        <p:nvSpPr>
          <p:cNvPr id="25" name="Text 23"/>
          <p:cNvSpPr txBox="1"/>
          <p:nvPr/>
        </p:nvSpPr>
        <p:spPr>
          <a:xfrm>
            <a:off x="457200" y="4389120"/>
            <a:ext cx="8229600" cy="457200"/>
          </a:xfrm>
          <a:prstGeom prst="rect">
            <a:avLst/>
          </a:prstGeom>
          <a:noFill/>
          <a:ln/>
        </p:spPr>
        <p:txBody>
          <a:bodyPr wrap="square" lIns="0" tIns="0" rIns="0" bIns="0" rtlCol="0" anchor="t"/>
          <a:lstStyle/>
          <a:p>
            <a:pPr indent="0" marL="0">
              <a:buNone/>
            </a:pPr>
            <a:r>
              <a:rPr lang="en-US" sz="1050" i="1" dirty="0">
                <a:solidFill>
                  <a:srgbClr val="5B6270"/>
                </a:solidFill>
                <a:latin typeface="Calibri" pitchFamily="34" charset="0"/>
                <a:ea typeface="Calibri" pitchFamily="34" charset="-122"/>
                <a:cs typeface="Calibri" pitchFamily="34" charset="-120"/>
              </a:rPr>
              <a:t>Search, in one sentence: identifiers are keyword and matched exactly; human descriptions are text plus semantic_text; precedent retrieval FORKs a BM25 branch and a semantic branch and FUSEs them with reciprocal rank fusion, in one ES|QL query.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3200" b="1" dirty="0">
                <a:solidFill>
                  <a:srgbClr val="0F1E3C"/>
                </a:solidFill>
                <a:latin typeface="Cambria" pitchFamily="34" charset="0"/>
                <a:ea typeface="Cambria" pitchFamily="34" charset="-122"/>
                <a:cs typeface="Cambria" pitchFamily="34" charset="-120"/>
              </a:rPr>
              <a:t>Live demo: one settlement day, ten breaks</a:t>
            </a:r>
            <a:endParaRPr lang="en-US" sz="3200" dirty="0"/>
          </a:p>
        </p:txBody>
      </p:sp>
      <p:sp>
        <p:nvSpPr>
          <p:cNvPr id="3" name="Shape 1"/>
          <p:cNvSpPr/>
          <p:nvPr/>
        </p:nvSpPr>
        <p:spPr>
          <a:xfrm>
            <a:off x="457200" y="1216152"/>
            <a:ext cx="384048" cy="384048"/>
          </a:xfrm>
          <a:prstGeom prst="ellipse">
            <a:avLst/>
          </a:prstGeom>
          <a:solidFill>
            <a:srgbClr val="1A7F4B"/>
          </a:solidFill>
          <a:ln w="12700">
            <a:solidFill>
              <a:srgbClr val="FFFFFF"/>
            </a:solidFill>
            <a:prstDash val="solid"/>
          </a:ln>
        </p:spPr>
      </p:sp>
      <p:sp>
        <p:nvSpPr>
          <p:cNvPr id="4" name="Text 2"/>
          <p:cNvSpPr txBox="1"/>
          <p:nvPr/>
        </p:nvSpPr>
        <p:spPr>
          <a:xfrm>
            <a:off x="457200" y="12161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960120" y="1188720"/>
            <a:ext cx="1188720" cy="457200"/>
          </a:xfrm>
          <a:prstGeom prst="rect">
            <a:avLst/>
          </a:prstGeom>
          <a:noFill/>
          <a:ln/>
        </p:spPr>
        <p:txBody>
          <a:bodyPr wrap="square" lIns="0" tIns="0" rIns="0" bIns="0" rtlCol="0" anchor="ctr"/>
          <a:lstStyle/>
          <a:p>
            <a:pPr indent="0" marL="0">
              <a:buNone/>
            </a:pPr>
            <a:r>
              <a:rPr lang="en-US" sz="1400" b="1" dirty="0">
                <a:solidFill>
                  <a:srgbClr val="0F1E3C"/>
                </a:solidFill>
                <a:latin typeface="Calibri" pitchFamily="34" charset="0"/>
                <a:ea typeface="Calibri" pitchFamily="34" charset="-122"/>
                <a:cs typeface="Calibri" pitchFamily="34" charset="-120"/>
              </a:rPr>
              <a:t>Match</a:t>
            </a:r>
            <a:endParaRPr lang="en-US" sz="1400" dirty="0"/>
          </a:p>
        </p:txBody>
      </p:sp>
      <p:sp>
        <p:nvSpPr>
          <p:cNvPr id="6" name="Text 4"/>
          <p:cNvSpPr txBox="1"/>
          <p:nvPr/>
        </p:nvSpPr>
        <p:spPr>
          <a:xfrm>
            <a:off x="2103120" y="1188720"/>
            <a:ext cx="3566160" cy="548640"/>
          </a:xfrm>
          <a:prstGeom prst="rect">
            <a:avLst/>
          </a:prstGeom>
          <a:noFill/>
          <a:ln/>
        </p:spPr>
        <p:txBody>
          <a:bodyPr wrap="square" lIns="0" tIns="0" rIns="0" bIns="0" rtlCol="0" anchor="ctr"/>
          <a:lstStyle/>
          <a:p>
            <a:pPr indent="0" marL="0">
              <a:buNone/>
            </a:pPr>
            <a:r>
              <a:rPr lang="en-US" sz="1050" dirty="0">
                <a:solidFill>
                  <a:srgbClr val="14171F"/>
                </a:solidFill>
                <a:latin typeface="Calibri" pitchFamily="34" charset="0"/>
                <a:ea typeface="Calibri" pitchFamily="34" charset="-122"/>
                <a:cs typeface="Calibri" pitchFamily="34" charset="-120"/>
              </a:rPr>
              <a:t>391 disbursals, ₹9.64 crore. One ES|QL STATS flags 10 breaks in ~40 ms. No join, no application code.</a:t>
            </a:r>
            <a:endParaRPr lang="en-US" sz="1050" dirty="0"/>
          </a:p>
        </p:txBody>
      </p:sp>
      <p:sp>
        <p:nvSpPr>
          <p:cNvPr id="7" name="Shape 5"/>
          <p:cNvSpPr/>
          <p:nvPr/>
        </p:nvSpPr>
        <p:spPr>
          <a:xfrm>
            <a:off x="457200" y="1892808"/>
            <a:ext cx="384048" cy="384048"/>
          </a:xfrm>
          <a:prstGeom prst="ellipse">
            <a:avLst/>
          </a:prstGeom>
          <a:solidFill>
            <a:srgbClr val="1A7F4B"/>
          </a:solidFill>
          <a:ln w="12700">
            <a:solidFill>
              <a:srgbClr val="FFFFFF"/>
            </a:solidFill>
            <a:prstDash val="solid"/>
          </a:ln>
        </p:spPr>
      </p:sp>
      <p:sp>
        <p:nvSpPr>
          <p:cNvPr id="8" name="Text 6"/>
          <p:cNvSpPr txBox="1"/>
          <p:nvPr/>
        </p:nvSpPr>
        <p:spPr>
          <a:xfrm>
            <a:off x="457200" y="1892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960120" y="1865376"/>
            <a:ext cx="1188720" cy="457200"/>
          </a:xfrm>
          <a:prstGeom prst="rect">
            <a:avLst/>
          </a:prstGeom>
          <a:noFill/>
          <a:ln/>
        </p:spPr>
        <p:txBody>
          <a:bodyPr wrap="square" lIns="0" tIns="0" rIns="0" bIns="0" rtlCol="0" anchor="ctr"/>
          <a:lstStyle/>
          <a:p>
            <a:pPr indent="0" marL="0">
              <a:buNone/>
            </a:pPr>
            <a:r>
              <a:rPr lang="en-US" sz="1400" b="1" dirty="0">
                <a:solidFill>
                  <a:srgbClr val="0F1E3C"/>
                </a:solidFill>
                <a:latin typeface="Calibri" pitchFamily="34" charset="0"/>
                <a:ea typeface="Calibri" pitchFamily="34" charset="-122"/>
                <a:cs typeface="Calibri" pitchFamily="34" charset="-120"/>
              </a:rPr>
              <a:t>Investigate</a:t>
            </a:r>
            <a:endParaRPr lang="en-US" sz="1400" dirty="0"/>
          </a:p>
        </p:txBody>
      </p:sp>
      <p:sp>
        <p:nvSpPr>
          <p:cNvPr id="10" name="Text 8"/>
          <p:cNvSpPr txBox="1"/>
          <p:nvPr/>
        </p:nvSpPr>
        <p:spPr>
          <a:xfrm>
            <a:off x="2103120" y="1865376"/>
            <a:ext cx="3566160" cy="548640"/>
          </a:xfrm>
          <a:prstGeom prst="rect">
            <a:avLst/>
          </a:prstGeom>
          <a:noFill/>
          <a:ln/>
        </p:spPr>
        <p:txBody>
          <a:bodyPr wrap="square" lIns="0" tIns="0" rIns="0" bIns="0" rtlCol="0" anchor="ctr"/>
          <a:lstStyle/>
          <a:p>
            <a:pPr indent="0" marL="0">
              <a:buNone/>
            </a:pPr>
            <a:r>
              <a:rPr lang="en-US" sz="1050" dirty="0">
                <a:solidFill>
                  <a:srgbClr val="14171F"/>
                </a:solidFill>
                <a:latin typeface="Calibri" pitchFamily="34" charset="0"/>
                <a:ea typeface="Calibri" pitchFamily="34" charset="-122"/>
                <a:cs typeface="Calibri" pitchFamily="34" charset="-120"/>
              </a:rPr>
              <a:t>DSB-20260916-00297: rule fired, exact figures, evidence rows with IDs, the failing span in the trace, a resolved precedent.</a:t>
            </a:r>
            <a:endParaRPr lang="en-US" sz="1050" dirty="0"/>
          </a:p>
        </p:txBody>
      </p:sp>
      <p:sp>
        <p:nvSpPr>
          <p:cNvPr id="11" name="Shape 9"/>
          <p:cNvSpPr/>
          <p:nvPr/>
        </p:nvSpPr>
        <p:spPr>
          <a:xfrm>
            <a:off x="457200" y="2569464"/>
            <a:ext cx="384048" cy="384048"/>
          </a:xfrm>
          <a:prstGeom prst="ellipse">
            <a:avLst/>
          </a:prstGeom>
          <a:solidFill>
            <a:srgbClr val="1A7F4B"/>
          </a:solidFill>
          <a:ln w="12700">
            <a:solidFill>
              <a:srgbClr val="FFFFFF"/>
            </a:solidFill>
            <a:prstDash val="solid"/>
          </a:ln>
        </p:spPr>
      </p:sp>
      <p:sp>
        <p:nvSpPr>
          <p:cNvPr id="12" name="Text 10"/>
          <p:cNvSpPr txBox="1"/>
          <p:nvPr/>
        </p:nvSpPr>
        <p:spPr>
          <a:xfrm>
            <a:off x="457200" y="25694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0120" y="2542032"/>
            <a:ext cx="1188720" cy="457200"/>
          </a:xfrm>
          <a:prstGeom prst="rect">
            <a:avLst/>
          </a:prstGeom>
          <a:noFill/>
          <a:ln/>
        </p:spPr>
        <p:txBody>
          <a:bodyPr wrap="square" lIns="0" tIns="0" rIns="0" bIns="0" rtlCol="0" anchor="ctr"/>
          <a:lstStyle/>
          <a:p>
            <a:pPr indent="0" marL="0">
              <a:buNone/>
            </a:pPr>
            <a:r>
              <a:rPr lang="en-US" sz="1400" b="1" dirty="0">
                <a:solidFill>
                  <a:srgbClr val="0F1E3C"/>
                </a:solidFill>
                <a:latin typeface="Calibri" pitchFamily="34" charset="0"/>
                <a:ea typeface="Calibri" pitchFamily="34" charset="-122"/>
                <a:cs typeface="Calibri" pitchFamily="34" charset="-120"/>
              </a:rPr>
              <a:t>Prove</a:t>
            </a:r>
            <a:endParaRPr lang="en-US" sz="1400" dirty="0"/>
          </a:p>
        </p:txBody>
      </p:sp>
      <p:sp>
        <p:nvSpPr>
          <p:cNvPr id="14" name="Text 12"/>
          <p:cNvSpPr txBox="1"/>
          <p:nvPr/>
        </p:nvSpPr>
        <p:spPr>
          <a:xfrm>
            <a:off x="2103120" y="2542032"/>
            <a:ext cx="3566160" cy="548640"/>
          </a:xfrm>
          <a:prstGeom prst="rect">
            <a:avLst/>
          </a:prstGeom>
          <a:noFill/>
          <a:ln/>
        </p:spPr>
        <p:txBody>
          <a:bodyPr wrap="square" lIns="0" tIns="0" rIns="0" bIns="0" rtlCol="0" anchor="ctr"/>
          <a:lstStyle/>
          <a:p>
            <a:pPr indent="0" marL="0">
              <a:buNone/>
            </a:pPr>
            <a:r>
              <a:rPr lang="en-US" sz="1050" dirty="0">
                <a:solidFill>
                  <a:srgbClr val="14171F"/>
                </a:solidFill>
                <a:latin typeface="Calibri" pitchFamily="34" charset="0"/>
                <a:ea typeface="Calibri" pitchFamily="34" charset="-122"/>
                <a:cs typeface="Calibri" pitchFamily="34" charset="-120"/>
              </a:rPr>
              <a:t>The Agent Builder trace waterfall: five tool calls with their ES|QL and rows. The model wrote prose only.</a:t>
            </a:r>
            <a:endParaRPr lang="en-US" sz="1050" dirty="0"/>
          </a:p>
        </p:txBody>
      </p:sp>
      <p:sp>
        <p:nvSpPr>
          <p:cNvPr id="15" name="Shape 13"/>
          <p:cNvSpPr/>
          <p:nvPr/>
        </p:nvSpPr>
        <p:spPr>
          <a:xfrm>
            <a:off x="457200" y="3246120"/>
            <a:ext cx="384048" cy="384048"/>
          </a:xfrm>
          <a:prstGeom prst="ellipse">
            <a:avLst/>
          </a:prstGeom>
          <a:solidFill>
            <a:srgbClr val="C6432E"/>
          </a:solidFill>
          <a:ln w="12700">
            <a:solidFill>
              <a:srgbClr val="FFFFFF"/>
            </a:solidFill>
            <a:prstDash val="solid"/>
          </a:ln>
        </p:spPr>
      </p:sp>
      <p:sp>
        <p:nvSpPr>
          <p:cNvPr id="16" name="Text 14"/>
          <p:cNvSpPr txBox="1"/>
          <p:nvPr/>
        </p:nvSpPr>
        <p:spPr>
          <a:xfrm>
            <a:off x="457200"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960120" y="3218688"/>
            <a:ext cx="1188720" cy="457200"/>
          </a:xfrm>
          <a:prstGeom prst="rect">
            <a:avLst/>
          </a:prstGeom>
          <a:noFill/>
          <a:ln/>
        </p:spPr>
        <p:txBody>
          <a:bodyPr wrap="square" lIns="0" tIns="0" rIns="0" bIns="0" rtlCol="0" anchor="ctr"/>
          <a:lstStyle/>
          <a:p>
            <a:pPr indent="0" marL="0">
              <a:buNone/>
            </a:pPr>
            <a:r>
              <a:rPr lang="en-US" sz="1400" b="1" dirty="0">
                <a:solidFill>
                  <a:srgbClr val="0F1E3C"/>
                </a:solidFill>
                <a:latin typeface="Calibri" pitchFamily="34" charset="0"/>
                <a:ea typeface="Calibri" pitchFamily="34" charset="-122"/>
                <a:cs typeface="Calibri" pitchFamily="34" charset="-120"/>
              </a:rPr>
              <a:t>Admit</a:t>
            </a:r>
            <a:endParaRPr lang="en-US" sz="1400" dirty="0"/>
          </a:p>
        </p:txBody>
      </p:sp>
      <p:sp>
        <p:nvSpPr>
          <p:cNvPr id="18" name="Text 16"/>
          <p:cNvSpPr txBox="1"/>
          <p:nvPr/>
        </p:nvSpPr>
        <p:spPr>
          <a:xfrm>
            <a:off x="2103120" y="3218688"/>
            <a:ext cx="3566160" cy="548640"/>
          </a:xfrm>
          <a:prstGeom prst="rect">
            <a:avLst/>
          </a:prstGeom>
          <a:noFill/>
          <a:ln/>
        </p:spPr>
        <p:txBody>
          <a:bodyPr wrap="square" lIns="0" tIns="0" rIns="0" bIns="0" rtlCol="0" anchor="ctr"/>
          <a:lstStyle/>
          <a:p>
            <a:pPr indent="0" marL="0">
              <a:buNone/>
            </a:pPr>
            <a:r>
              <a:rPr lang="en-US" sz="1050" dirty="0">
                <a:solidFill>
                  <a:srgbClr val="14171F"/>
                </a:solidFill>
                <a:latin typeface="Calibri" pitchFamily="34" charset="0"/>
                <a:ea typeface="Calibri" pitchFamily="34" charset="-122"/>
                <a:cs typeface="Calibri" pitchFamily="34" charset="-120"/>
              </a:rPr>
              <a:t>DSB-20260916-00112, UNRESOLVED: ₹1,000 short, clean pipeline, no rule matches. The agent lists what it ruled out and escalates.</a:t>
            </a:r>
            <a:endParaRPr lang="en-US" sz="1050" dirty="0"/>
          </a:p>
        </p:txBody>
      </p:sp>
      <p:sp>
        <p:nvSpPr>
          <p:cNvPr id="19" name="Shape 17"/>
          <p:cNvSpPr/>
          <p:nvPr/>
        </p:nvSpPr>
        <p:spPr>
          <a:xfrm>
            <a:off x="457200" y="3922776"/>
            <a:ext cx="384048" cy="384048"/>
          </a:xfrm>
          <a:prstGeom prst="ellipse">
            <a:avLst/>
          </a:prstGeom>
          <a:solidFill>
            <a:srgbClr val="1A7F4B"/>
          </a:solidFill>
          <a:ln w="12700">
            <a:solidFill>
              <a:srgbClr val="FFFFFF"/>
            </a:solidFill>
            <a:prstDash val="solid"/>
          </a:ln>
        </p:spPr>
      </p:sp>
      <p:sp>
        <p:nvSpPr>
          <p:cNvPr id="20" name="Text 18"/>
          <p:cNvSpPr txBox="1"/>
          <p:nvPr/>
        </p:nvSpPr>
        <p:spPr>
          <a:xfrm>
            <a:off x="457200" y="3922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960120" y="3895344"/>
            <a:ext cx="1188720" cy="457200"/>
          </a:xfrm>
          <a:prstGeom prst="rect">
            <a:avLst/>
          </a:prstGeom>
          <a:noFill/>
          <a:ln/>
        </p:spPr>
        <p:txBody>
          <a:bodyPr wrap="square" lIns="0" tIns="0" rIns="0" bIns="0" rtlCol="0" anchor="ctr"/>
          <a:lstStyle/>
          <a:p>
            <a:pPr indent="0" marL="0">
              <a:buNone/>
            </a:pPr>
            <a:r>
              <a:rPr lang="en-US" sz="1400" b="1" dirty="0">
                <a:solidFill>
                  <a:srgbClr val="0F1E3C"/>
                </a:solidFill>
                <a:latin typeface="Calibri" pitchFamily="34" charset="0"/>
                <a:ea typeface="Calibri" pitchFamily="34" charset="-122"/>
                <a:cs typeface="Calibri" pitchFamily="34" charset="-120"/>
              </a:rPr>
              <a:t>Act</a:t>
            </a:r>
            <a:endParaRPr lang="en-US" sz="1400" dirty="0"/>
          </a:p>
        </p:txBody>
      </p:sp>
      <p:sp>
        <p:nvSpPr>
          <p:cNvPr id="22" name="Text 20"/>
          <p:cNvSpPr txBox="1"/>
          <p:nvPr/>
        </p:nvSpPr>
        <p:spPr>
          <a:xfrm>
            <a:off x="2103120" y="3895344"/>
            <a:ext cx="3566160" cy="548640"/>
          </a:xfrm>
          <a:prstGeom prst="rect">
            <a:avLst/>
          </a:prstGeom>
          <a:noFill/>
          <a:ln/>
        </p:spPr>
        <p:txBody>
          <a:bodyPr wrap="square" lIns="0" tIns="0" rIns="0" bIns="0" rtlCol="0" anchor="ctr"/>
          <a:lstStyle/>
          <a:p>
            <a:pPr indent="0" marL="0">
              <a:buNone/>
            </a:pPr>
            <a:r>
              <a:rPr lang="en-US" sz="1050" dirty="0">
                <a:solidFill>
                  <a:srgbClr val="14171F"/>
                </a:solidFill>
                <a:latin typeface="Calibri" pitchFamily="34" charset="0"/>
                <a:ea typeface="Calibri" pitchFamily="34" charset="-122"/>
                <a:cs typeface="Calibri" pitchFamily="34" charset="-120"/>
              </a:rPr>
              <a:t>Approve → an Elastic Workflow opens the case and writes the audit record. Then the same report in Hindi through Sarvam, re-checked.</a:t>
            </a:r>
            <a:endParaRPr lang="en-US" sz="1050" dirty="0"/>
          </a:p>
        </p:txBody>
      </p:sp>
      <p:sp>
        <p:nvSpPr>
          <p:cNvPr id="23" name="Shape 21"/>
          <p:cNvSpPr/>
          <p:nvPr/>
        </p:nvSpPr>
        <p:spPr>
          <a:xfrm>
            <a:off x="5943600" y="1188720"/>
            <a:ext cx="2743200" cy="3291840"/>
          </a:xfrm>
          <a:prstGeom prst="roundRect">
            <a:avLst>
              <a:gd name="adj" fmla="val 2667"/>
            </a:avLst>
          </a:prstGeom>
          <a:solidFill>
            <a:srgbClr val="F6F7F9"/>
          </a:solidFill>
          <a:ln w="12700">
            <a:solidFill>
              <a:srgbClr val="E3E6EB"/>
            </a:solidFill>
            <a:prstDash val="solid"/>
          </a:ln>
        </p:spPr>
      </p:sp>
      <p:sp>
        <p:nvSpPr>
          <p:cNvPr id="24" name="Text 22"/>
          <p:cNvSpPr txBox="1"/>
          <p:nvPr/>
        </p:nvSpPr>
        <p:spPr>
          <a:xfrm>
            <a:off x="6126480" y="1298448"/>
            <a:ext cx="2377440" cy="274320"/>
          </a:xfrm>
          <a:prstGeom prst="rect">
            <a:avLst/>
          </a:prstGeom>
          <a:noFill/>
          <a:ln/>
        </p:spPr>
        <p:txBody>
          <a:bodyPr wrap="square" lIns="0" tIns="0" rIns="0" bIns="0" rtlCol="0" anchor="t"/>
          <a:lstStyle/>
          <a:p>
            <a:pPr indent="0" marL="0">
              <a:buNone/>
            </a:pPr>
            <a:r>
              <a:rPr lang="en-US" sz="1200" b="1" dirty="0">
                <a:solidFill>
                  <a:srgbClr val="0F1E3C"/>
                </a:solidFill>
                <a:latin typeface="Calibri" pitchFamily="34" charset="0"/>
                <a:ea typeface="Calibri" pitchFamily="34" charset="-122"/>
                <a:cs typeface="Calibri" pitchFamily="34" charset="-120"/>
              </a:rPr>
              <a:t>Traceability check, live</a:t>
            </a:r>
            <a:endParaRPr lang="en-US" sz="1200" dirty="0"/>
          </a:p>
        </p:txBody>
      </p:sp>
      <p:sp>
        <p:nvSpPr>
          <p:cNvPr id="25" name="Text 23"/>
          <p:cNvSpPr txBox="1"/>
          <p:nvPr/>
        </p:nvSpPr>
        <p:spPr>
          <a:xfrm>
            <a:off x="6126480" y="1645920"/>
            <a:ext cx="2377440" cy="731520"/>
          </a:xfrm>
          <a:prstGeom prst="rect">
            <a:avLst/>
          </a:prstGeom>
          <a:noFill/>
          <a:ln/>
        </p:spPr>
        <p:txBody>
          <a:bodyPr wrap="square" lIns="0" tIns="0" rIns="0" bIns="0" rtlCol="0" anchor="t"/>
          <a:lstStyle/>
          <a:p>
            <a:pPr indent="0" marL="0">
              <a:buNone/>
            </a:pPr>
            <a:r>
              <a:rPr lang="en-US" sz="4400" b="1" dirty="0">
                <a:solidFill>
                  <a:srgbClr val="1A7F4B"/>
                </a:solidFill>
                <a:latin typeface="Cambria" pitchFamily="34" charset="0"/>
                <a:ea typeface="Cambria" pitchFamily="34" charset="-122"/>
                <a:cs typeface="Cambria" pitchFamily="34" charset="-120"/>
              </a:rPr>
              <a:t>12 / 12</a:t>
            </a:r>
            <a:endParaRPr lang="en-US" sz="4400" dirty="0"/>
          </a:p>
        </p:txBody>
      </p:sp>
      <p:sp>
        <p:nvSpPr>
          <p:cNvPr id="26" name="Text 24"/>
          <p:cNvSpPr txBox="1"/>
          <p:nvPr/>
        </p:nvSpPr>
        <p:spPr>
          <a:xfrm>
            <a:off x="6126480" y="2377440"/>
            <a:ext cx="2377440" cy="457200"/>
          </a:xfrm>
          <a:prstGeom prst="rect">
            <a:avLst/>
          </a:prstGeom>
          <a:noFill/>
          <a:ln/>
        </p:spPr>
        <p:txBody>
          <a:bodyPr wrap="square" lIns="0" tIns="0" rIns="0" bIns="0" rtlCol="0" anchor="t"/>
          <a:lstStyle/>
          <a:p>
            <a:pPr indent="0" marL="0">
              <a:buNone/>
            </a:pPr>
            <a:r>
              <a:rPr lang="en-US" sz="1050" dirty="0">
                <a:solidFill>
                  <a:srgbClr val="5B6270"/>
                </a:solidFill>
                <a:latin typeface="Calibri" pitchFamily="34" charset="0"/>
                <a:ea typeface="Calibri" pitchFamily="34" charset="-122"/>
                <a:cs typeface="Calibri" pitchFamily="34" charset="-120"/>
              </a:rPr>
              <a:t>figures and IDs in the report found verbatim in a tool result</a:t>
            </a:r>
            <a:endParaRPr lang="en-US" sz="1050" dirty="0"/>
          </a:p>
        </p:txBody>
      </p:sp>
      <p:sp>
        <p:nvSpPr>
          <p:cNvPr id="27" name="Shape 25"/>
          <p:cNvSpPr/>
          <p:nvPr/>
        </p:nvSpPr>
        <p:spPr>
          <a:xfrm>
            <a:off x="6126480" y="2926080"/>
            <a:ext cx="1143000" cy="274320"/>
          </a:xfrm>
          <a:prstGeom prst="roundRect">
            <a:avLst>
              <a:gd name="adj" fmla="val 20000"/>
            </a:avLst>
          </a:prstGeom>
          <a:solidFill>
            <a:srgbClr val="E3F5EA"/>
          </a:solidFill>
          <a:ln w="9525">
            <a:solidFill>
              <a:srgbClr val="1A7F4B"/>
            </a:solidFill>
            <a:prstDash val="solid"/>
          </a:ln>
        </p:spPr>
      </p:sp>
      <p:sp>
        <p:nvSpPr>
          <p:cNvPr id="28" name="Text 26"/>
          <p:cNvSpPr txBox="1"/>
          <p:nvPr/>
        </p:nvSpPr>
        <p:spPr>
          <a:xfrm>
            <a:off x="6126480" y="2926080"/>
            <a:ext cx="1143000" cy="274320"/>
          </a:xfrm>
          <a:prstGeom prst="rect">
            <a:avLst/>
          </a:prstGeom>
          <a:noFill/>
          <a:ln/>
        </p:spPr>
        <p:txBody>
          <a:bodyPr wrap="square" lIns="0" tIns="0" rIns="0" bIns="0" rtlCol="0" anchor="ctr"/>
          <a:lstStyle/>
          <a:p>
            <a:pPr algn="ctr" indent="0" marL="0">
              <a:buNone/>
            </a:pPr>
            <a:r>
              <a:rPr lang="en-US" sz="1050" b="1" dirty="0">
                <a:solidFill>
                  <a:srgbClr val="1A7F4B"/>
                </a:solidFill>
                <a:latin typeface="Courier New" pitchFamily="34" charset="0"/>
                <a:ea typeface="Courier New" pitchFamily="34" charset="-122"/>
                <a:cs typeface="Courier New" pitchFamily="34" charset="-120"/>
              </a:rPr>
              <a:t>₹51,500.00</a:t>
            </a:r>
            <a:endParaRPr lang="en-US" sz="1050" dirty="0"/>
          </a:p>
        </p:txBody>
      </p:sp>
      <p:sp>
        <p:nvSpPr>
          <p:cNvPr id="29" name="Shape 27"/>
          <p:cNvSpPr/>
          <p:nvPr/>
        </p:nvSpPr>
        <p:spPr>
          <a:xfrm>
            <a:off x="6126480" y="3291840"/>
            <a:ext cx="1828800" cy="274320"/>
          </a:xfrm>
          <a:prstGeom prst="roundRect">
            <a:avLst>
              <a:gd name="adj" fmla="val 20000"/>
            </a:avLst>
          </a:prstGeom>
          <a:solidFill>
            <a:srgbClr val="E3F5EA"/>
          </a:solidFill>
          <a:ln w="9525">
            <a:solidFill>
              <a:srgbClr val="1A7F4B"/>
            </a:solidFill>
            <a:prstDash val="solid"/>
          </a:ln>
        </p:spPr>
      </p:sp>
      <p:sp>
        <p:nvSpPr>
          <p:cNvPr id="30" name="Text 28"/>
          <p:cNvSpPr txBox="1"/>
          <p:nvPr/>
        </p:nvSpPr>
        <p:spPr>
          <a:xfrm>
            <a:off x="6126480" y="3291840"/>
            <a:ext cx="1828800" cy="274320"/>
          </a:xfrm>
          <a:prstGeom prst="rect">
            <a:avLst/>
          </a:prstGeom>
          <a:noFill/>
          <a:ln/>
        </p:spPr>
        <p:txBody>
          <a:bodyPr wrap="square" lIns="0" tIns="0" rIns="0" bIns="0" rtlCol="0" anchor="ctr"/>
          <a:lstStyle/>
          <a:p>
            <a:pPr algn="ctr" indent="0" marL="0">
              <a:buNone/>
            </a:pPr>
            <a:r>
              <a:rPr lang="en-US" sz="1050" b="1" dirty="0">
                <a:solidFill>
                  <a:srgbClr val="1A7F4B"/>
                </a:solidFill>
                <a:latin typeface="Courier New" pitchFamily="34" charset="0"/>
                <a:ea typeface="Courier New" pitchFamily="34" charset="-122"/>
                <a:cs typeface="Courier New" pitchFamily="34" charset="-120"/>
              </a:rPr>
              <a:t>EVT-20260916-000594</a:t>
            </a:r>
            <a:endParaRPr lang="en-US" sz="1050" dirty="0"/>
          </a:p>
        </p:txBody>
      </p:sp>
      <p:sp>
        <p:nvSpPr>
          <p:cNvPr id="31" name="Shape 29"/>
          <p:cNvSpPr/>
          <p:nvPr/>
        </p:nvSpPr>
        <p:spPr>
          <a:xfrm>
            <a:off x="6126480" y="3657600"/>
            <a:ext cx="2011680" cy="274320"/>
          </a:xfrm>
          <a:prstGeom prst="roundRect">
            <a:avLst>
              <a:gd name="adj" fmla="val 20000"/>
            </a:avLst>
          </a:prstGeom>
          <a:solidFill>
            <a:srgbClr val="E3F5EA"/>
          </a:solidFill>
          <a:ln w="9525">
            <a:solidFill>
              <a:srgbClr val="1A7F4B"/>
            </a:solidFill>
            <a:prstDash val="solid"/>
          </a:ln>
        </p:spPr>
      </p:sp>
      <p:sp>
        <p:nvSpPr>
          <p:cNvPr id="32" name="Text 30"/>
          <p:cNvSpPr txBox="1"/>
          <p:nvPr/>
        </p:nvSpPr>
        <p:spPr>
          <a:xfrm>
            <a:off x="6126480" y="3657600"/>
            <a:ext cx="2011680" cy="274320"/>
          </a:xfrm>
          <a:prstGeom prst="rect">
            <a:avLst/>
          </a:prstGeom>
          <a:noFill/>
          <a:ln/>
        </p:spPr>
        <p:txBody>
          <a:bodyPr wrap="square" lIns="0" tIns="0" rIns="0" bIns="0" rtlCol="0" anchor="ctr"/>
          <a:lstStyle/>
          <a:p>
            <a:pPr algn="ctr" indent="0" marL="0">
              <a:buNone/>
            </a:pPr>
            <a:r>
              <a:rPr lang="en-US" sz="1050" b="1" dirty="0">
                <a:solidFill>
                  <a:srgbClr val="1A7F4B"/>
                </a:solidFill>
                <a:latin typeface="Courier New" pitchFamily="34" charset="0"/>
                <a:ea typeface="Courier New" pitchFamily="34" charset="-122"/>
                <a:cs typeface="Courier New" pitchFamily="34" charset="-120"/>
              </a:rPr>
              <a:t>NRTH2026091656971611</a:t>
            </a:r>
            <a:endParaRPr lang="en-US" sz="1050" dirty="0"/>
          </a:p>
        </p:txBody>
      </p:sp>
      <p:sp>
        <p:nvSpPr>
          <p:cNvPr id="33" name="Text 31"/>
          <p:cNvSpPr txBox="1"/>
          <p:nvPr/>
        </p:nvSpPr>
        <p:spPr>
          <a:xfrm>
            <a:off x="6126480" y="4069080"/>
            <a:ext cx="2377440" cy="365760"/>
          </a:xfrm>
          <a:prstGeom prst="rect">
            <a:avLst/>
          </a:prstGeom>
          <a:noFill/>
          <a:ln/>
        </p:spPr>
        <p:txBody>
          <a:bodyPr wrap="square" lIns="0" tIns="0" rIns="0" bIns="0" rtlCol="0" anchor="t"/>
          <a:lstStyle/>
          <a:p>
            <a:pPr indent="0" marL="0">
              <a:buNone/>
            </a:pPr>
            <a:r>
              <a:rPr lang="en-US" sz="950" i="1" dirty="0">
                <a:solidFill>
                  <a:srgbClr val="5B6270"/>
                </a:solidFill>
                <a:latin typeface="Calibri" pitchFamily="34" charset="0"/>
                <a:ea typeface="Calibri" pitchFamily="34" charset="-122"/>
                <a:cs typeface="Calibri" pitchFamily="34" charset="-120"/>
              </a:rPr>
              <a:t>Green: traced. Red would mean the model invented it.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3C"/>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What we measured</a:t>
            </a:r>
            <a:endParaRPr lang="en-US" sz="3200" dirty="0"/>
          </a:p>
        </p:txBody>
      </p:sp>
      <p:sp>
        <p:nvSpPr>
          <p:cNvPr id="3" name="Shape 1"/>
          <p:cNvSpPr/>
          <p:nvPr/>
        </p:nvSpPr>
        <p:spPr>
          <a:xfrm>
            <a:off x="457200" y="1188720"/>
            <a:ext cx="1965960" cy="1828800"/>
          </a:xfrm>
          <a:prstGeom prst="roundRect">
            <a:avLst>
              <a:gd name="adj" fmla="val 4000"/>
            </a:avLst>
          </a:prstGeom>
          <a:solidFill>
            <a:srgbClr val="18294F"/>
          </a:solidFill>
          <a:ln w="12700">
            <a:solidFill>
              <a:srgbClr val="18294F"/>
            </a:solidFill>
            <a:prstDash val="solid"/>
          </a:ln>
        </p:spPr>
      </p:sp>
      <p:sp>
        <p:nvSpPr>
          <p:cNvPr id="4" name="Text 2"/>
          <p:cNvSpPr txBox="1"/>
          <p:nvPr/>
        </p:nvSpPr>
        <p:spPr>
          <a:xfrm>
            <a:off x="594360" y="1280160"/>
            <a:ext cx="1737360" cy="685800"/>
          </a:xfrm>
          <a:prstGeom prst="rect">
            <a:avLst/>
          </a:prstGeom>
          <a:noFill/>
          <a:ln/>
        </p:spPr>
        <p:txBody>
          <a:bodyPr wrap="square" lIns="0" tIns="0" rIns="0" bIns="0" rtlCol="0" anchor="t"/>
          <a:lstStyle/>
          <a:p>
            <a:pPr indent="0" marL="0">
              <a:buNone/>
            </a:pPr>
            <a:r>
              <a:rPr lang="en-US" sz="3400" b="1" dirty="0">
                <a:solidFill>
                  <a:srgbClr val="5CCB8A"/>
                </a:solidFill>
                <a:latin typeface="Cambria" pitchFamily="34" charset="0"/>
                <a:ea typeface="Cambria" pitchFamily="34" charset="-122"/>
                <a:cs typeface="Cambria" pitchFamily="34" charset="-120"/>
              </a:rPr>
              <a:t>14 / 14</a:t>
            </a:r>
            <a:endParaRPr lang="en-US" sz="3400" dirty="0"/>
          </a:p>
        </p:txBody>
      </p:sp>
      <p:sp>
        <p:nvSpPr>
          <p:cNvPr id="5" name="Text 3"/>
          <p:cNvSpPr txBox="1"/>
          <p:nvPr/>
        </p:nvSpPr>
        <p:spPr>
          <a:xfrm>
            <a:off x="594360" y="1965960"/>
            <a:ext cx="1737360" cy="5486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seeded breaks detected across 3 days, 0 false positives</a:t>
            </a:r>
            <a:endParaRPr lang="en-US" sz="1100" dirty="0"/>
          </a:p>
        </p:txBody>
      </p:sp>
      <p:sp>
        <p:nvSpPr>
          <p:cNvPr id="6" name="Text 4"/>
          <p:cNvSpPr txBox="1"/>
          <p:nvPr/>
        </p:nvSpPr>
        <p:spPr>
          <a:xfrm>
            <a:off x="594360" y="2560320"/>
            <a:ext cx="1737360" cy="411480"/>
          </a:xfrm>
          <a:prstGeom prst="rect">
            <a:avLst/>
          </a:prstGeom>
          <a:noFill/>
          <a:ln/>
        </p:spPr>
        <p:txBody>
          <a:bodyPr wrap="square" lIns="0" tIns="0" rIns="0" bIns="0" rtlCol="0" anchor="t"/>
          <a:lstStyle/>
          <a:p>
            <a:pPr indent="0" marL="0">
              <a:buNone/>
            </a:pPr>
            <a:r>
              <a:rPr lang="en-US" sz="900" i="1" dirty="0">
                <a:solidFill>
                  <a:srgbClr val="CFE0F7"/>
                </a:solidFill>
                <a:latin typeface="Calibri" pitchFamily="34" charset="0"/>
                <a:ea typeface="Calibri" pitchFamily="34" charset="-122"/>
                <a:cs typeface="Calibri" pitchFamily="34" charset="-120"/>
              </a:rPr>
              <a:t>npm run verify, against data/answer-key.json</a:t>
            </a:r>
            <a:endParaRPr lang="en-US" sz="900" dirty="0"/>
          </a:p>
        </p:txBody>
      </p:sp>
      <p:sp>
        <p:nvSpPr>
          <p:cNvPr id="7" name="Shape 5"/>
          <p:cNvSpPr/>
          <p:nvPr/>
        </p:nvSpPr>
        <p:spPr>
          <a:xfrm>
            <a:off x="2537460" y="1188720"/>
            <a:ext cx="1965960" cy="1828800"/>
          </a:xfrm>
          <a:prstGeom prst="roundRect">
            <a:avLst>
              <a:gd name="adj" fmla="val 4000"/>
            </a:avLst>
          </a:prstGeom>
          <a:solidFill>
            <a:srgbClr val="18294F"/>
          </a:solidFill>
          <a:ln w="12700">
            <a:solidFill>
              <a:srgbClr val="18294F"/>
            </a:solidFill>
            <a:prstDash val="solid"/>
          </a:ln>
        </p:spPr>
      </p:sp>
      <p:sp>
        <p:nvSpPr>
          <p:cNvPr id="8" name="Text 6"/>
          <p:cNvSpPr txBox="1"/>
          <p:nvPr/>
        </p:nvSpPr>
        <p:spPr>
          <a:xfrm>
            <a:off x="2674620" y="1280160"/>
            <a:ext cx="1737360" cy="685800"/>
          </a:xfrm>
          <a:prstGeom prst="rect">
            <a:avLst/>
          </a:prstGeom>
          <a:noFill/>
          <a:ln/>
        </p:spPr>
        <p:txBody>
          <a:bodyPr wrap="square" lIns="0" tIns="0" rIns="0" bIns="0" rtlCol="0" anchor="t"/>
          <a:lstStyle/>
          <a:p>
            <a:pPr indent="0" marL="0">
              <a:buNone/>
            </a:pPr>
            <a:r>
              <a:rPr lang="en-US" sz="3400" b="1" dirty="0">
                <a:solidFill>
                  <a:srgbClr val="5CCB8A"/>
                </a:solidFill>
                <a:latin typeface="Cambria" pitchFamily="34" charset="0"/>
                <a:ea typeface="Cambria" pitchFamily="34" charset="-122"/>
                <a:cs typeface="Cambria" pitchFamily="34" charset="-120"/>
              </a:rPr>
              <a:t>~40 ms</a:t>
            </a:r>
            <a:endParaRPr lang="en-US" sz="3400" dirty="0"/>
          </a:p>
        </p:txBody>
      </p:sp>
      <p:sp>
        <p:nvSpPr>
          <p:cNvPr id="9" name="Text 7"/>
          <p:cNvSpPr txBox="1"/>
          <p:nvPr/>
        </p:nvSpPr>
        <p:spPr>
          <a:xfrm>
            <a:off x="2674620" y="1965960"/>
            <a:ext cx="1737360" cy="5486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to match 391 disbursals against the settlement file</a:t>
            </a:r>
            <a:endParaRPr lang="en-US" sz="1100" dirty="0"/>
          </a:p>
        </p:txBody>
      </p:sp>
      <p:sp>
        <p:nvSpPr>
          <p:cNvPr id="10" name="Text 8"/>
          <p:cNvSpPr txBox="1"/>
          <p:nvPr/>
        </p:nvSpPr>
        <p:spPr>
          <a:xfrm>
            <a:off x="2674620" y="2560320"/>
            <a:ext cx="1737360" cy="411480"/>
          </a:xfrm>
          <a:prstGeom prst="rect">
            <a:avLst/>
          </a:prstGeom>
          <a:noFill/>
          <a:ln/>
        </p:spPr>
        <p:txBody>
          <a:bodyPr wrap="square" lIns="0" tIns="0" rIns="0" bIns="0" rtlCol="0" anchor="t"/>
          <a:lstStyle/>
          <a:p>
            <a:pPr indent="0" marL="0">
              <a:buNone/>
            </a:pPr>
            <a:r>
              <a:rPr lang="en-US" sz="900" i="1" dirty="0">
                <a:solidFill>
                  <a:srgbClr val="CFE0F7"/>
                </a:solidFill>
                <a:latin typeface="Calibri" pitchFamily="34" charset="0"/>
                <a:ea typeface="Calibri" pitchFamily="34" charset="-122"/>
                <a:cs typeface="Calibri" pitchFamily="34" charset="-120"/>
              </a:rPr>
              <a:t>ES|QL took, ledgerlens.list_breaks</a:t>
            </a:r>
            <a:endParaRPr lang="en-US" sz="900" dirty="0"/>
          </a:p>
        </p:txBody>
      </p:sp>
      <p:sp>
        <p:nvSpPr>
          <p:cNvPr id="11" name="Shape 9"/>
          <p:cNvSpPr/>
          <p:nvPr/>
        </p:nvSpPr>
        <p:spPr>
          <a:xfrm>
            <a:off x="4617720" y="1188720"/>
            <a:ext cx="1965960" cy="1828800"/>
          </a:xfrm>
          <a:prstGeom prst="roundRect">
            <a:avLst>
              <a:gd name="adj" fmla="val 4000"/>
            </a:avLst>
          </a:prstGeom>
          <a:solidFill>
            <a:srgbClr val="18294F"/>
          </a:solidFill>
          <a:ln w="12700">
            <a:solidFill>
              <a:srgbClr val="18294F"/>
            </a:solidFill>
            <a:prstDash val="solid"/>
          </a:ln>
        </p:spPr>
      </p:sp>
      <p:sp>
        <p:nvSpPr>
          <p:cNvPr id="12" name="Text 10"/>
          <p:cNvSpPr txBox="1"/>
          <p:nvPr/>
        </p:nvSpPr>
        <p:spPr>
          <a:xfrm>
            <a:off x="4754880" y="1280160"/>
            <a:ext cx="1737360" cy="685800"/>
          </a:xfrm>
          <a:prstGeom prst="rect">
            <a:avLst/>
          </a:prstGeom>
          <a:noFill/>
          <a:ln/>
        </p:spPr>
        <p:txBody>
          <a:bodyPr wrap="square" lIns="0" tIns="0" rIns="0" bIns="0" rtlCol="0" anchor="t"/>
          <a:lstStyle/>
          <a:p>
            <a:pPr indent="0" marL="0">
              <a:buNone/>
            </a:pPr>
            <a:r>
              <a:rPr lang="en-US" sz="3400" b="1" dirty="0">
                <a:solidFill>
                  <a:srgbClr val="5CCB8A"/>
                </a:solidFill>
                <a:latin typeface="Cambria" pitchFamily="34" charset="0"/>
                <a:ea typeface="Cambria" pitchFamily="34" charset="-122"/>
                <a:cs typeface="Cambria" pitchFamily="34" charset="-120"/>
              </a:rPr>
              <a:t>100 %</a:t>
            </a:r>
            <a:endParaRPr lang="en-US" sz="3400" dirty="0"/>
          </a:p>
        </p:txBody>
      </p:sp>
      <p:sp>
        <p:nvSpPr>
          <p:cNvPr id="13" name="Text 11"/>
          <p:cNvSpPr txBox="1"/>
          <p:nvPr/>
        </p:nvSpPr>
        <p:spPr>
          <a:xfrm>
            <a:off x="4754880" y="1965960"/>
            <a:ext cx="1737360" cy="5486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of figures and IDs traced to a tool result</a:t>
            </a:r>
            <a:endParaRPr lang="en-US" sz="1100" dirty="0"/>
          </a:p>
        </p:txBody>
      </p:sp>
      <p:sp>
        <p:nvSpPr>
          <p:cNvPr id="14" name="Text 12"/>
          <p:cNvSpPr txBox="1"/>
          <p:nvPr/>
        </p:nvSpPr>
        <p:spPr>
          <a:xfrm>
            <a:off x="4754880" y="2560320"/>
            <a:ext cx="1737360" cy="411480"/>
          </a:xfrm>
          <a:prstGeom prst="rect">
            <a:avLst/>
          </a:prstGeom>
          <a:noFill/>
          <a:ln/>
        </p:spPr>
        <p:txBody>
          <a:bodyPr wrap="square" lIns="0" tIns="0" rIns="0" bIns="0" rtlCol="0" anchor="t"/>
          <a:lstStyle/>
          <a:p>
            <a:pPr indent="0" marL="0">
              <a:buNone/>
            </a:pPr>
            <a:r>
              <a:rPr lang="en-US" sz="900" i="1" dirty="0">
                <a:solidFill>
                  <a:srgbClr val="CFE0F7"/>
                </a:solidFill>
                <a:latin typeface="Calibri" pitchFamily="34" charset="0"/>
                <a:ea typeface="Calibri" pitchFamily="34" charset="-122"/>
                <a:cs typeface="Calibri" pitchFamily="34" charset="-120"/>
              </a:rPr>
              <a:t>checked live on every report, shown as N / N</a:t>
            </a:r>
            <a:endParaRPr lang="en-US" sz="900" dirty="0"/>
          </a:p>
        </p:txBody>
      </p:sp>
      <p:sp>
        <p:nvSpPr>
          <p:cNvPr id="15" name="Shape 13"/>
          <p:cNvSpPr/>
          <p:nvPr/>
        </p:nvSpPr>
        <p:spPr>
          <a:xfrm>
            <a:off x="6697980" y="1188720"/>
            <a:ext cx="1965960" cy="1828800"/>
          </a:xfrm>
          <a:prstGeom prst="roundRect">
            <a:avLst>
              <a:gd name="adj" fmla="val 4000"/>
            </a:avLst>
          </a:prstGeom>
          <a:solidFill>
            <a:srgbClr val="18294F"/>
          </a:solidFill>
          <a:ln w="12700">
            <a:solidFill>
              <a:srgbClr val="18294F"/>
            </a:solidFill>
            <a:prstDash val="solid"/>
          </a:ln>
        </p:spPr>
      </p:sp>
      <p:sp>
        <p:nvSpPr>
          <p:cNvPr id="16" name="Text 14"/>
          <p:cNvSpPr txBox="1"/>
          <p:nvPr/>
        </p:nvSpPr>
        <p:spPr>
          <a:xfrm>
            <a:off x="6835140" y="1280160"/>
            <a:ext cx="1737360" cy="685800"/>
          </a:xfrm>
          <a:prstGeom prst="rect">
            <a:avLst/>
          </a:prstGeom>
          <a:noFill/>
          <a:ln/>
        </p:spPr>
        <p:txBody>
          <a:bodyPr wrap="square" lIns="0" tIns="0" rIns="0" bIns="0" rtlCol="0" anchor="t"/>
          <a:lstStyle/>
          <a:p>
            <a:pPr indent="0" marL="0">
              <a:buNone/>
            </a:pPr>
            <a:r>
              <a:rPr lang="en-US" sz="3400" b="1" dirty="0">
                <a:solidFill>
                  <a:srgbClr val="5CCB8A"/>
                </a:solidFill>
                <a:latin typeface="Cambria" pitchFamily="34" charset="0"/>
                <a:ea typeface="Cambria" pitchFamily="34" charset="-122"/>
                <a:cs typeface="Cambria" pitchFamily="34" charset="-120"/>
              </a:rPr>
              <a:t>0</a:t>
            </a:r>
            <a:endParaRPr lang="en-US" sz="3400" dirty="0"/>
          </a:p>
        </p:txBody>
      </p:sp>
      <p:sp>
        <p:nvSpPr>
          <p:cNvPr id="17" name="Text 15"/>
          <p:cNvSpPr txBox="1"/>
          <p:nvPr/>
        </p:nvSpPr>
        <p:spPr>
          <a:xfrm>
            <a:off x="6835140" y="1965960"/>
            <a:ext cx="1737360" cy="5486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numbers computed by the LLM</a:t>
            </a:r>
            <a:endParaRPr lang="en-US" sz="1100" dirty="0"/>
          </a:p>
        </p:txBody>
      </p:sp>
      <p:sp>
        <p:nvSpPr>
          <p:cNvPr id="18" name="Text 16"/>
          <p:cNvSpPr txBox="1"/>
          <p:nvPr/>
        </p:nvSpPr>
        <p:spPr>
          <a:xfrm>
            <a:off x="6835140" y="2560320"/>
            <a:ext cx="1737360" cy="411480"/>
          </a:xfrm>
          <a:prstGeom prst="rect">
            <a:avLst/>
          </a:prstGeom>
          <a:noFill/>
          <a:ln/>
        </p:spPr>
        <p:txBody>
          <a:bodyPr wrap="square" lIns="0" tIns="0" rIns="0" bIns="0" rtlCol="0" anchor="t"/>
          <a:lstStyle/>
          <a:p>
            <a:pPr indent="0" marL="0">
              <a:buNone/>
            </a:pPr>
            <a:r>
              <a:rPr lang="en-US" sz="900" i="1" dirty="0">
                <a:solidFill>
                  <a:srgbClr val="CFE0F7"/>
                </a:solidFill>
                <a:latin typeface="Calibri" pitchFamily="34" charset="0"/>
                <a:ea typeface="Calibri" pitchFamily="34" charset="-122"/>
                <a:cs typeface="Calibri" pitchFamily="34" charset="-120"/>
              </a:rPr>
              <a:t>by construction; the checker would show red</a:t>
            </a:r>
            <a:endParaRPr lang="en-US" sz="900" dirty="0"/>
          </a:p>
        </p:txBody>
      </p:sp>
      <p:sp>
        <p:nvSpPr>
          <p:cNvPr id="19" name="Text 17"/>
          <p:cNvSpPr txBox="1"/>
          <p:nvPr/>
        </p:nvSpPr>
        <p:spPr>
          <a:xfrm>
            <a:off x="457200" y="3154680"/>
            <a:ext cx="8229600" cy="411480"/>
          </a:xfrm>
          <a:prstGeom prst="rect">
            <a:avLst/>
          </a:prstGeom>
          <a:noFill/>
          <a:ln/>
        </p:spPr>
        <p:txBody>
          <a:bodyPr wrap="square" lIns="0" tIns="0" rIns="0" bIns="0" rtlCol="0" anchor="t"/>
          <a:lstStyle/>
          <a:p>
            <a:pPr indent="0" marL="0">
              <a:buNone/>
            </a:pPr>
            <a:r>
              <a:rPr lang="en-US" sz="1100" dirty="0">
                <a:solidFill>
                  <a:srgbClr val="CFE0F7"/>
                </a:solidFill>
                <a:latin typeface="Calibri" pitchFamily="34" charset="0"/>
                <a:ea typeface="Calibri" pitchFamily="34" charset="-122"/>
                <a:cs typeface="Calibri" pitchFamily="34" charset="-120"/>
              </a:rPr>
              <a:t>Investigation time: seconds, measured on screen during the demo. Manual baseline: 30 to 60 minutes per break, a practitioner estimate, not a benchmark.</a:t>
            </a:r>
            <a:endParaRPr lang="en-US" sz="1100" dirty="0"/>
          </a:p>
        </p:txBody>
      </p:sp>
      <p:sp>
        <p:nvSpPr>
          <p:cNvPr id="20" name="Text 18"/>
          <p:cNvSpPr txBox="1"/>
          <p:nvPr/>
        </p:nvSpPr>
        <p:spPr>
          <a:xfrm>
            <a:off x="457200" y="3657600"/>
            <a:ext cx="39319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Deliberately out of scope</a:t>
            </a:r>
            <a:endParaRPr lang="en-US" sz="1300" dirty="0"/>
          </a:p>
        </p:txBody>
      </p:sp>
      <p:sp>
        <p:nvSpPr>
          <p:cNvPr id="21" name="Text 19"/>
          <p:cNvSpPr txBox="1"/>
          <p:nvPr/>
        </p:nvSpPr>
        <p:spPr>
          <a:xfrm>
            <a:off x="457200" y="3950208"/>
            <a:ext cx="3931920" cy="7772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CFE0F7"/>
                </a:solidFill>
                <a:latin typeface="Calibri" pitchFamily="34" charset="0"/>
                <a:ea typeface="Calibri" pitchFamily="34" charset="-122"/>
                <a:cs typeface="Calibri" pitchFamily="34" charset="-120"/>
              </a:rPr>
              <a:t>Live bank or PSP connections: seeded data keeps results reproducible for judging</a:t>
            </a:r>
            <a:endParaRPr lang="en-US" sz="1100" dirty="0"/>
          </a:p>
          <a:p>
            <a:pPr marL="342900" indent="-342900">
              <a:spcAft>
                <a:spcPts val="500"/>
              </a:spcAft>
              <a:buSzPct val="100000"/>
              <a:buChar char="•"/>
            </a:pPr>
            <a:r>
              <a:rPr lang="en-US" sz="1100" dirty="0">
                <a:solidFill>
                  <a:srgbClr val="CFE0F7"/>
                </a:solidFill>
                <a:latin typeface="Calibri" pitchFamily="34" charset="0"/>
                <a:ea typeface="Calibri" pitchFamily="34" charset="-122"/>
                <a:cs typeface="Calibri" pitchFamily="34" charset="-120"/>
              </a:rPr>
              <a:t>Moving funds: every write stays behind human approval</a:t>
            </a:r>
            <a:endParaRPr lang="en-US" sz="1100" dirty="0"/>
          </a:p>
        </p:txBody>
      </p:sp>
      <p:sp>
        <p:nvSpPr>
          <p:cNvPr id="22" name="Text 20"/>
          <p:cNvSpPr txBox="1"/>
          <p:nvPr/>
        </p:nvSpPr>
        <p:spPr>
          <a:xfrm>
            <a:off x="4754880" y="3657600"/>
            <a:ext cx="393192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What production needs</a:t>
            </a:r>
            <a:endParaRPr lang="en-US" sz="1300" dirty="0"/>
          </a:p>
        </p:txBody>
      </p:sp>
      <p:sp>
        <p:nvSpPr>
          <p:cNvPr id="23" name="Text 21"/>
          <p:cNvSpPr txBox="1"/>
          <p:nvPr/>
        </p:nvSpPr>
        <p:spPr>
          <a:xfrm>
            <a:off x="4754880" y="3950208"/>
            <a:ext cx="3931920" cy="7772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CFE0F7"/>
                </a:solidFill>
                <a:latin typeface="Calibri" pitchFamily="34" charset="0"/>
                <a:ea typeface="Calibri" pitchFamily="34" charset="-122"/>
                <a:cs typeface="Calibri" pitchFamily="34" charset="-120"/>
              </a:rPr>
              <a:t>Real APM instrumentation (the ES|QL is already ECS-shaped) and S3 → Lambda ingest of partner files</a:t>
            </a:r>
            <a:endParaRPr lang="en-US" sz="1100" dirty="0"/>
          </a:p>
          <a:p>
            <a:pPr marL="342900" indent="-342900">
              <a:spcAft>
                <a:spcPts val="500"/>
              </a:spcAft>
              <a:buSzPct val="100000"/>
              <a:buChar char="•"/>
            </a:pPr>
            <a:r>
              <a:rPr lang="en-US" sz="1100" dirty="0">
                <a:solidFill>
                  <a:srgbClr val="CFE0F7"/>
                </a:solidFill>
                <a:latin typeface="Calibri" pitchFamily="34" charset="0"/>
                <a:ea typeface="Calibri" pitchFamily="34" charset="-122"/>
                <a:cs typeface="Calibri" pitchFamily="34" charset="-120"/>
              </a:rPr>
              <a:t>Bedrock inference endpoint under the bank's AWS account, RBAC on the workflow, reversal workflows behind a second approval</a:t>
            </a:r>
            <a:endParaRPr lang="en-US" sz="1100" dirty="0"/>
          </a:p>
        </p:txBody>
      </p:sp>
      <p:sp>
        <p:nvSpPr>
          <p:cNvPr id="24" name="Text 22"/>
          <p:cNvSpPr txBox="1"/>
          <p:nvPr/>
        </p:nvSpPr>
        <p:spPr>
          <a:xfrm>
            <a:off x="457200" y="4754880"/>
            <a:ext cx="8229600" cy="274320"/>
          </a:xfrm>
          <a:prstGeom prst="rect">
            <a:avLst/>
          </a:prstGeom>
          <a:noFill/>
          <a:ln/>
        </p:spPr>
        <p:txBody>
          <a:bodyPr wrap="square" lIns="0" tIns="0" rIns="0" bIns="0" rtlCol="0" anchor="t"/>
          <a:lstStyle/>
          <a:p>
            <a:pPr indent="0" marL="0">
              <a:buNone/>
            </a:pPr>
            <a:r>
              <a:rPr lang="en-US" sz="1000" dirty="0">
                <a:solidFill>
                  <a:srgbClr val="5CCB8A"/>
                </a:solidFill>
                <a:latin typeface="Calibri" pitchFamily="34" charset="0"/>
                <a:ea typeface="Calibri" pitchFamily="34" charset="-122"/>
                <a:cs typeface="Calibri" pitchFamily="34" charset="-120"/>
              </a:rPr>
              <a:t>The model explains. ES|QL decides. Every number is traceable.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2600" b="1" dirty="0">
                <a:solidFill>
                  <a:srgbClr val="0F1E3C"/>
                </a:solidFill>
                <a:latin typeface="Cambria" pitchFamily="34" charset="0"/>
                <a:ea typeface="Cambria" pitchFamily="34" charset="-122"/>
                <a:cs typeface="Cambria" pitchFamily="34" charset="-120"/>
              </a:rPr>
              <a:t>Backup: capabilities used, mapped to the rubric</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4937760"/>
                <a:gridCol w="173736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Capability</a:t>
                      </a:r>
                      <a:endParaRPr lang="en-US" sz="10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LedgerLens uses it</a:t>
                      </a:r>
                      <a:endParaRPr lang="en-US" sz="10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Rubric</a:t>
                      </a:r>
                      <a:endParaRPr lang="en-US" sz="10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0F1E3C"/>
                    </a:solidFill>
                  </a:tcPr>
                </a:tc>
              </a:tr>
              <a:tr h="384048">
                <a:tc>
                  <a:txBody>
                    <a:bodyPr/>
                    <a:lstStyle/>
                    <a:p>
                      <a:pPr indent="0" marL="0">
                        <a:buNone/>
                      </a:pPr>
                      <a:r>
                        <a:rPr lang="en-US" sz="950" b="1" dirty="0">
                          <a:solidFill>
                            <a:srgbClr val="14171F"/>
                          </a:solidFill>
                          <a:latin typeface="Calibri" pitchFamily="34" charset="0"/>
                          <a:ea typeface="Calibri" pitchFamily="34" charset="-122"/>
                          <a:cs typeface="Calibri" pitchFamily="34" charset="-120"/>
                        </a:rPr>
                        <a:t>Elasticsearch mappings</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950" dirty="0">
                          <a:solidFill>
                            <a:srgbClr val="14171F"/>
                          </a:solidFill>
                          <a:latin typeface="Calibri" pitchFamily="34" charset="0"/>
                          <a:ea typeface="Calibri" pitchFamily="34" charset="-122"/>
                          <a:cs typeface="Calibri" pitchFamily="34" charset="-120"/>
                        </a:rPr>
                        <a:t>3 indices, dynamic: strict, keyword for every identifier and code, integer paise, text only for narration</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950" dirty="0">
                          <a:solidFill>
                            <a:srgbClr val="1A7F4B"/>
                          </a:solidFill>
                          <a:latin typeface="Calibri" pitchFamily="34" charset="0"/>
                          <a:ea typeface="Calibri" pitchFamily="34" charset="-122"/>
                          <a:cs typeface="Calibri" pitchFamily="34" charset="-120"/>
                        </a:rPr>
                        <a:t>Elasticsearch integration</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4171F"/>
                          </a:solidFill>
                          <a:latin typeface="Calibri" pitchFamily="34" charset="0"/>
                          <a:ea typeface="Calibri" pitchFamily="34" charset="-122"/>
                          <a:cs typeface="Calibri" pitchFamily="34" charset="-120"/>
                        </a:rPr>
                        <a:t>ES|QL</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950" dirty="0">
                          <a:solidFill>
                            <a:srgbClr val="14171F"/>
                          </a:solidFill>
                          <a:latin typeface="Calibri" pitchFamily="34" charset="0"/>
                          <a:ea typeface="Calibri" pitchFamily="34" charset="-122"/>
                          <a:cs typeface="Calibri" pitchFamily="34" charset="-120"/>
                        </a:rPr>
                        <a:t>Match is one STATS ... BY disbursal_id over a unified index; classification is a CASE rule table; every tool is a parameterised query</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950" dirty="0">
                          <a:solidFill>
                            <a:srgbClr val="1A7F4B"/>
                          </a:solidFill>
                          <a:latin typeface="Calibri" pitchFamily="34" charset="0"/>
                          <a:ea typeface="Calibri" pitchFamily="34" charset="-122"/>
                          <a:cs typeface="Calibri" pitchFamily="34" charset="-120"/>
                        </a:rPr>
                        <a:t>Technical implementation</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r h="384048">
                <a:tc>
                  <a:txBody>
                    <a:bodyPr/>
                    <a:lstStyle/>
                    <a:p>
                      <a:pPr indent="0" marL="0">
                        <a:buNone/>
                      </a:pPr>
                      <a:r>
                        <a:rPr lang="en-US" sz="950" b="1" dirty="0">
                          <a:solidFill>
                            <a:srgbClr val="14171F"/>
                          </a:solidFill>
                          <a:latin typeface="Calibri" pitchFamily="34" charset="0"/>
                          <a:ea typeface="Calibri" pitchFamily="34" charset="-122"/>
                          <a:cs typeface="Calibri" pitchFamily="34" charset="-120"/>
                        </a:rPr>
                        <a:t>Hybrid search</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950" dirty="0">
                          <a:solidFill>
                            <a:srgbClr val="14171F"/>
                          </a:solidFill>
                          <a:latin typeface="Calibri" pitchFamily="34" charset="0"/>
                          <a:ea typeface="Calibri" pitchFamily="34" charset="-122"/>
                          <a:cs typeface="Calibri" pitchFamily="34" charset="-120"/>
                        </a:rPr>
                        <a:t>FORK a BM25 branch and a semantic_text branch, FUSE with RRF, in one query; Elastic embeds at index and query time</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950" dirty="0">
                          <a:solidFill>
                            <a:srgbClr val="1A7F4B"/>
                          </a:solidFill>
                          <a:latin typeface="Calibri" pitchFamily="34" charset="0"/>
                          <a:ea typeface="Calibri" pitchFamily="34" charset="-122"/>
                          <a:cs typeface="Calibri" pitchFamily="34" charset="-120"/>
                        </a:rPr>
                        <a:t>Elasticsearch integration, AI</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4171F"/>
                          </a:solidFill>
                          <a:latin typeface="Calibri" pitchFamily="34" charset="0"/>
                          <a:ea typeface="Calibri" pitchFamily="34" charset="-122"/>
                          <a:cs typeface="Calibri" pitchFamily="34" charset="-120"/>
                        </a:rPr>
                        <a:t>Agent Builder</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950" dirty="0">
                          <a:solidFill>
                            <a:srgbClr val="14171F"/>
                          </a:solidFill>
                          <a:latin typeface="Calibri" pitchFamily="34" charset="0"/>
                          <a:ea typeface="Calibri" pitchFamily="34" charset="-122"/>
                          <a:cs typeface="Calibri" pitchFamily="34" charset="-120"/>
                        </a:rPr>
                        <a:t>6 tools, one agent, instructions that forbid computing; per-run trace waterfall is the explainability artefact</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950" dirty="0">
                          <a:solidFill>
                            <a:srgbClr val="1A7F4B"/>
                          </a:solidFill>
                          <a:latin typeface="Calibri" pitchFamily="34" charset="0"/>
                          <a:ea typeface="Calibri" pitchFamily="34" charset="-122"/>
                          <a:cs typeface="Calibri" pitchFamily="34" charset="-120"/>
                        </a:rPr>
                        <a:t>AI implementation, Innovation</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r h="384048">
                <a:tc>
                  <a:txBody>
                    <a:bodyPr/>
                    <a:lstStyle/>
                    <a:p>
                      <a:pPr indent="0" marL="0">
                        <a:buNone/>
                      </a:pPr>
                      <a:r>
                        <a:rPr lang="en-US" sz="950" b="1" dirty="0">
                          <a:solidFill>
                            <a:srgbClr val="14171F"/>
                          </a:solidFill>
                          <a:latin typeface="Calibri" pitchFamily="34" charset="0"/>
                          <a:ea typeface="Calibri" pitchFamily="34" charset="-122"/>
                          <a:cs typeface="Calibri" pitchFamily="34" charset="-120"/>
                        </a:rPr>
                        <a:t>Workflows + Cases</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950" dirty="0">
                          <a:solidFill>
                            <a:srgbClr val="14171F"/>
                          </a:solidFill>
                          <a:latin typeface="Calibri" pitchFamily="34" charset="0"/>
                          <a:ea typeface="Calibri" pitchFamily="34" charset="-122"/>
                          <a:cs typeface="Calibri" pitchFamily="34" charset="-120"/>
                        </a:rPr>
                        <a:t>Workflow exposed as a tool; opens a Kibana case and writes an audit record; runs only after human approval</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950" dirty="0">
                          <a:solidFill>
                            <a:srgbClr val="1A7F4B"/>
                          </a:solidFill>
                          <a:latin typeface="Calibri" pitchFamily="34" charset="0"/>
                          <a:ea typeface="Calibri" pitchFamily="34" charset="-122"/>
                          <a:cs typeface="Calibri" pitchFamily="34" charset="-120"/>
                        </a:rPr>
                        <a:t>Takes action, UX</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4171F"/>
                          </a:solidFill>
                          <a:latin typeface="Calibri" pitchFamily="34" charset="0"/>
                          <a:ea typeface="Calibri" pitchFamily="34" charset="-122"/>
                          <a:cs typeface="Calibri" pitchFamily="34" charset="-120"/>
                        </a:rPr>
                        <a:t>AWS</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950" dirty="0">
                          <a:solidFill>
                            <a:srgbClr val="14171F"/>
                          </a:solidFill>
                          <a:latin typeface="Calibri" pitchFamily="34" charset="0"/>
                          <a:ea typeface="Calibri" pitchFamily="34" charset="-122"/>
                          <a:cs typeface="Calibri" pitchFamily="34" charset="-120"/>
                        </a:rPr>
                        <a:t>Elastic Cloud Serverless on AWS; optional Bedrock chat_completion inference endpoint for the narration model</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950" dirty="0">
                          <a:solidFill>
                            <a:srgbClr val="1A7F4B"/>
                          </a:solidFill>
                          <a:latin typeface="Calibri" pitchFamily="34" charset="0"/>
                          <a:ea typeface="Calibri" pitchFamily="34" charset="-122"/>
                          <a:cs typeface="Calibri" pitchFamily="34" charset="-120"/>
                        </a:rPr>
                        <a:t>Technology stack</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r h="384048">
                <a:tc>
                  <a:txBody>
                    <a:bodyPr/>
                    <a:lstStyle/>
                    <a:p>
                      <a:pPr indent="0" marL="0">
                        <a:buNone/>
                      </a:pPr>
                      <a:r>
                        <a:rPr lang="en-US" sz="950" b="1" dirty="0">
                          <a:solidFill>
                            <a:srgbClr val="14171F"/>
                          </a:solidFill>
                          <a:latin typeface="Calibri" pitchFamily="34" charset="0"/>
                          <a:ea typeface="Calibri" pitchFamily="34" charset="-122"/>
                          <a:cs typeface="Calibri" pitchFamily="34" charset="-120"/>
                        </a:rPr>
                        <a:t>Sarvam</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950" dirty="0">
                          <a:solidFill>
                            <a:srgbClr val="14171F"/>
                          </a:solidFill>
                          <a:latin typeface="Calibri" pitchFamily="34" charset="0"/>
                          <a:ea typeface="Calibri" pitchFamily="34" charset="-122"/>
                          <a:cs typeface="Calibri" pitchFamily="34" charset="-120"/>
                        </a:rPr>
                        <a:t>sarvam-translate:v1 renders the report in Hindi or Kannada; the traceability check re-runs on the translation</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c>
                  <a:txBody>
                    <a:bodyPr/>
                    <a:lstStyle/>
                    <a:p>
                      <a:pPr indent="0" marL="0">
                        <a:buNone/>
                      </a:pPr>
                      <a:r>
                        <a:rPr lang="en-US" sz="950" dirty="0">
                          <a:solidFill>
                            <a:srgbClr val="1A7F4B"/>
                          </a:solidFill>
                          <a:latin typeface="Calibri" pitchFamily="34" charset="0"/>
                          <a:ea typeface="Calibri" pitchFamily="34" charset="-122"/>
                          <a:cs typeface="Calibri" pitchFamily="34" charset="-120"/>
                        </a:rPr>
                        <a:t>Impact, sponsor fit</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4171F"/>
                          </a:solidFill>
                          <a:latin typeface="Calibri" pitchFamily="34" charset="0"/>
                          <a:ea typeface="Calibri" pitchFamily="34" charset="-122"/>
                          <a:cs typeface="Calibri" pitchFamily="34" charset="-120"/>
                        </a:rPr>
                        <a:t>Console</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950" dirty="0">
                          <a:solidFill>
                            <a:srgbClr val="14171F"/>
                          </a:solidFill>
                          <a:latin typeface="Calibri" pitchFamily="34" charset="0"/>
                          <a:ea typeface="Calibri" pitchFamily="34" charset="-122"/>
                          <a:cs typeface="Calibri" pitchFamily="34" charset="-120"/>
                        </a:rPr>
                        <a:t>Zero-dependency Node server + one page: queue, report, traceability highlights, approve/dismiss</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c>
                  <a:txBody>
                    <a:bodyPr/>
                    <a:lstStyle/>
                    <a:p>
                      <a:pPr indent="0" marL="0">
                        <a:buNone/>
                      </a:pPr>
                      <a:r>
                        <a:rPr lang="en-US" sz="950" dirty="0">
                          <a:solidFill>
                            <a:srgbClr val="1A7F4B"/>
                          </a:solidFill>
                          <a:latin typeface="Calibri" pitchFamily="34" charset="0"/>
                          <a:ea typeface="Calibri" pitchFamily="34" charset="-122"/>
                          <a:cs typeface="Calibri" pitchFamily="34" charset="-120"/>
                        </a:rPr>
                        <a:t>Interface design, Usability</a:t>
                      </a:r>
                      <a:endParaRPr lang="en-US" sz="950" dirty="0">
                        <a:latin typeface="Calibri" charset="0"/>
                        <a:ea typeface="Calibri" charset="0"/>
                        <a:cs typeface="Calibri" charset="0"/>
                      </a:endParaRPr>
                    </a:p>
                  </a:txBody>
                  <a:tcPr marL="76200" marR="76200" marT="38100" marB="38100" anchor="ctr">
                    <a:lnL w="6350" cap="flat" cmpd="sng" algn="ctr">
                      <a:solidFill>
                        <a:srgbClr val="E3E6EB"/>
                      </a:solidFill>
                      <a:prstDash val="solid"/>
                      <a:round/>
                      <a:headEnd type="none" w="med" len="med"/>
                      <a:tailEnd type="none" w="med" len="med"/>
                    </a:lnL>
                    <a:lnR w="6350" cap="flat" cmpd="sng" algn="ctr">
                      <a:solidFill>
                        <a:srgbClr val="E3E6EB"/>
                      </a:solidFill>
                      <a:prstDash val="solid"/>
                      <a:round/>
                      <a:headEnd type="none" w="med" len="med"/>
                      <a:tailEnd type="none" w="med" len="med"/>
                    </a:lnR>
                    <a:lnT w="6350" cap="flat" cmpd="sng" algn="ctr">
                      <a:solidFill>
                        <a:srgbClr val="E3E6EB"/>
                      </a:solidFill>
                      <a:prstDash val="solid"/>
                      <a:round/>
                      <a:headEnd type="none" w="med" len="med"/>
                      <a:tailEnd type="none" w="med" len="med"/>
                    </a:lnT>
                    <a:lnB w="6350" cap="flat" cmpd="sng" algn="ctr">
                      <a:solidFill>
                        <a:srgbClr val="E3E6EB"/>
                      </a:solidFill>
                      <a:prstDash val="solid"/>
                      <a:round/>
                      <a:headEnd type="none" w="med" len="med"/>
                      <a:tailEnd type="none" w="med" len="med"/>
                    </a:lnB>
                    <a:solidFill>
                      <a:srgbClr val="F6F7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LedgerLens · Forge the Future 2026</dc:title>
  <dc:subject>PptxGenJS Presentation</dc:subject>
  <dc:creator>LedgerLens</dc:creator>
  <cp:lastModifiedBy>LedgerLens</cp:lastModifiedBy>
  <cp:revision>1</cp:revision>
  <dcterms:created xsi:type="dcterms:W3CDTF">2026-09-17T04:42:40Z</dcterms:created>
  <dcterms:modified xsi:type="dcterms:W3CDTF">2026-09-17T04:42:40Z</dcterms:modified>
</cp:coreProperties>
</file>